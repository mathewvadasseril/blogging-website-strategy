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7A6A60"/>
                </a:solidFill>
                <a:latin typeface="+mn-lt"/>
              </a:defRPr>
            </a:pPr>
            <a:r>
              <a:rPr sz="1100" b="0" i="0" u="none" strike="noStrike">
                <a:solidFill>
                  <a:srgbClr val="7A6A60"/>
                </a:solidFill>
                <a:latin typeface="+mn-lt"/>
              </a:rPr>
              <a:t>CCD cafes, under Rs 7,214 cr of group debt</a:t>
            </a:r>
          </a:p>
        </c:rich>
      </c:tx>
      <c:layout/>
      <c:overlay val="0"/>
    </c:title>
    <c:autoTitleDeleted val="0"/>
    <c:plotArea>
      <c:layout/>
      <c:barChart>
        <c:barDir val="col"/>
        <c:grouping val="clustered"/>
        <c:varyColors val="0"/>
        <c:ser>
          <c:idx val="0"/>
          <c:order val="0"/>
          <c:tx>
            <c:strRef>
              <c:f>Sheet1!$B$1</c:f>
              <c:strCache>
                <c:ptCount val="1"/>
                <c:pt idx="0">
                  <c:v>CCD cafes</c:v>
                </c:pt>
              </c:strCache>
            </c:strRef>
          </c:tx>
          <c:spPr>
            <a:solidFill>
              <a:srgbClr val="2B1B12"/>
            </a:solidFill>
            <a:effectLst/>
          </c:spPr>
          <c:invertIfNegative val="0"/>
          <c:dLbls>
            <c:numFmt formatCode="#,##0" sourceLinked="0"/>
            <c:txPr>
              <a:bodyPr/>
              <a:lstStyle/>
              <a:p>
                <a:pPr>
                  <a:defRPr b="1" i="0" strike="noStrike" sz="1400" u="none">
                    <a:solidFill>
                      <a:srgbClr val="2B1B12"/>
                    </a:solidFill>
                    <a:latin typeface="+mn-lt"/>
                  </a:defRPr>
                </a:pPr>
              </a:p>
            </c:txPr>
            <c:showLegendKey val="0"/>
            <c:showVal val="1"/>
            <c:showCatName val="0"/>
            <c:showSerName val="0"/>
            <c:showPercent val="0"/>
            <c:showBubbleSize val="0"/>
            <c:showLeaderLines val="0"/>
          </c:dLbls>
          <c:dPt>
            <c:idx val="0"/>
            <c:invertIfNegative val="0"/>
            <c:bubble3D val="0"/>
            <c:spPr>
              <a:solidFill>
                <a:srgbClr val="2B1B12"/>
              </a:solidFill>
              <a:effectLst/>
            </c:spPr>
          </c:dPt>
          <c:dPt>
            <c:idx val="1"/>
            <c:invertIfNegative val="0"/>
            <c:bubble3D val="0"/>
            <c:spPr>
              <a:solidFill>
                <a:srgbClr val="B5452F"/>
              </a:solidFill>
              <a:effectLst/>
            </c:spPr>
          </c:dPt>
          <c:cat>
            <c:multiLvlStrRef>
              <c:f>Sheet1!$A$2:$A$3</c:f>
              <c:multiLvlStrCache>
                <c:ptCount val="2"/>
                <c:lvl>
                  <c:pt idx="0">
                    <c:v>FY19</c:v>
                  </c:pt>
                  <c:pt idx="1">
                    <c:v>FY23</c:v>
                  </c:pt>
                </c:lvl>
              </c:multiLvlStrCache>
            </c:multiLvlStrRef>
          </c:cat>
          <c:val>
            <c:numRef>
              <c:f>Sheet1!$B$2:$B$3</c:f>
              <c:numCache>
                <c:formatCode>General</c:formatCode>
                <c:ptCount val="2"/>
                <c:pt idx="0">
                  <c:v>1752</c:v>
                </c:pt>
                <c:pt idx="1">
                  <c:v>469</c:v>
                </c:pt>
              </c:numCache>
            </c:numRef>
          </c:val>
        </c:ser>
        <c:dLbls>
          <c:numFmt formatCode="#,##0" sourceLinked="0"/>
          <c:txPr>
            <a:bodyPr/>
            <a:lstStyle/>
            <a:p>
              <a:pPr>
                <a:defRPr b="1" i="0" strike="noStrike" sz="1400" u="none">
                  <a:solidFill>
                    <a:srgbClr val="2B1B12"/>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1B1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7A6A60"/>
                </a:solidFill>
                <a:latin typeface="+mn-lt"/>
              </a:defRPr>
            </a:pPr>
            <a:r>
              <a:rPr sz="1100" b="0" i="0" u="none" strike="noStrike">
                <a:solidFill>
                  <a:srgbClr val="7A6A60"/>
                </a:solidFill>
                <a:latin typeface="+mn-lt"/>
              </a:rPr>
              <a:t>Bills a day a 1,000 sq ft cafe needs to keep rent at 20%</a:t>
            </a:r>
          </a:p>
        </c:rich>
      </c:tx>
      <c:layout/>
      <c:overlay val="0"/>
    </c:title>
    <c:autoTitleDeleted val="0"/>
    <c:plotArea>
      <c:layout/>
      <c:barChart>
        <c:barDir val="bar"/>
        <c:grouping val="clustered"/>
        <c:varyColors val="0"/>
        <c:ser>
          <c:idx val="0"/>
          <c:order val="0"/>
          <c:tx>
            <c:strRef>
              <c:f>Sheet1!$B$1</c:f>
              <c:strCache>
                <c:ptCount val="1"/>
                <c:pt idx="0">
                  <c:v>Bills a day</c:v>
                </c:pt>
              </c:strCache>
            </c:strRef>
          </c:tx>
          <c:spPr>
            <a:solidFill>
              <a:srgbClr val="2B1B12"/>
            </a:solidFill>
            <a:effectLst/>
          </c:spPr>
          <c:invertIfNegative val="0"/>
          <c:dLbls>
            <c:numFmt formatCode="#,##0" sourceLinked="0"/>
            <c:txPr>
              <a:bodyPr/>
              <a:lstStyle/>
              <a:p>
                <a:pPr>
                  <a:defRPr b="1" i="0" strike="noStrike" sz="1600" u="none">
                    <a:solidFill>
                      <a:srgbClr val="2B1B12"/>
                    </a:solidFill>
                    <a:latin typeface="+mn-lt"/>
                  </a:defRPr>
                </a:pPr>
              </a:p>
            </c:txPr>
            <c:showLegendKey val="0"/>
            <c:showVal val="1"/>
            <c:showCatName val="0"/>
            <c:showSerName val="0"/>
            <c:showPercent val="0"/>
            <c:showBubbleSize val="0"/>
            <c:showLeaderLines val="0"/>
          </c:dLbls>
          <c:dPt>
            <c:idx val="0"/>
            <c:invertIfNegative val="0"/>
            <c:bubble3D val="0"/>
            <c:spPr>
              <a:solidFill>
                <a:srgbClr val="2B1B12"/>
              </a:solidFill>
              <a:effectLst/>
            </c:spPr>
          </c:dPt>
          <c:dPt>
            <c:idx val="1"/>
            <c:invertIfNegative val="0"/>
            <c:bubble3D val="0"/>
            <c:spPr>
              <a:solidFill>
                <a:srgbClr val="D9822B"/>
              </a:solidFill>
              <a:effectLst/>
            </c:spPr>
          </c:dPt>
          <c:cat>
            <c:multiLvlStrRef>
              <c:f>Sheet1!$A$2:$A$3</c:f>
              <c:multiLvlStrCache>
                <c:ptCount val="2"/>
                <c:lvl>
                  <c:pt idx="0">
                    <c:v>Indiranagar, Bengaluru</c:v>
                  </c:pt>
                  <c:pt idx="1">
                    <c:v>Lucknow high street</c:v>
                  </c:pt>
                </c:lvl>
              </c:multiLvlStrCache>
            </c:multiLvlStrRef>
          </c:cat>
          <c:val>
            <c:numRef>
              <c:f>Sheet1!$B$2:$B$3</c:f>
              <c:numCache>
                <c:formatCode>General</c:formatCode>
                <c:ptCount val="2"/>
                <c:pt idx="0">
                  <c:v>179</c:v>
                </c:pt>
                <c:pt idx="1">
                  <c:v>67</c:v>
                </c:pt>
              </c:numCache>
            </c:numRef>
          </c:val>
        </c:ser>
        <c:dLbls>
          <c:numFmt formatCode="#,##0" sourceLinked="0"/>
          <c:txPr>
            <a:bodyPr/>
            <a:lstStyle/>
            <a:p>
              <a:pPr>
                <a:defRPr b="1" i="0" strike="noStrike" sz="1600" u="none">
                  <a:solidFill>
                    <a:srgbClr val="2B1B1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B1B1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bucket. Guests pour in on launch weekend; most leak out and never return. This deck follows that leak through the boom, the big names that fell into it, the tier-2 cities that are getting it right, and a cafe designed around the second visit. Source for 85 of 100: Bloom Intelligence (US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boom is real: thousands of branded shops and homegrown chains crossing Rs 300 crore. Pause on the last line: if guests are pouring in, why do cafes close? That is the question the rest of the deck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the leak. Panel 1: a queue of 100 on launch day. Panel 2: 15 walk back in over the next months. Panel 3: 3 are greeted by name. Panel 4: the owner doing the sum; 825 regulars means 27,500 first visits, and a reel brings 3,000. Say: hype can fill the cafe for a month but cannot carry it for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three beats. The dash: fast openings, a Rs 110 crore loss and seven in ten stores losing money. The reset: a new CEO, Rajat Luthra from KFC India, fixes rent, staff and menus store by store; loss falls to Rs 94 crore. Grow again: with over 90% of stores EBITDA positive, it opens its 250th cafe in Lucknow. The order is the lesson: prove, then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sizes of the same break. CCD: cafes funded faster than they could repay, so debt turned a growth problem into a survival problem. Starbucks: revenue up 5%, loss up 65%, so even the world's biggest coffee brand is sent back to the first test, rent the street can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two cafes on one street. Panel 1: both open to a queue. Panel 2: one films reels; the other writes down names. Panel 3: month three, one has a quiet room, the other has familiar faces. Panel 4: month six, one shutter down. Read the table row by row; the last row is the punchline.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1,000 sq ft cafe. Indiranagar rent is about Rs 375 per sq ft; Lucknow was about Rs 100 (2022, the latest we found). Keeping rent at 20% takes 179 bills a day in one and 67 in the other. Barista, the chain many wrote off, is growing fastest where the rent is lighter.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wins, right column traps. The winners built regulars: Roastery with big sit-down rooms a metro could never afford, Corridor Seven with cupping sessions instead of ads. The traps had demand but no second source of it: Zepto Cafe's supply chain broke 300 km from a metro, and Didi Cafes depended on one patron. Lesson: cheaper rent buys time to build regulars, if supply is built before the second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loop that replaces the launch reel. Every first-timer leaves a name and a card, gets a reminder around day 10 and a free second cup within 14 days; the free cups sit inside running costs. Right: the same cafe on a metro street and a tier-2 street. Tier-2 earns about half the profit on half the setup, pays back slightly faster and needs about 180 fewer regulars. If the card brings back about 30% of first-timers (Bloom measured 29.9% for a thank-you message) and one in five returners becomes a regular, the metro cafe needs about 9,700 first visits instead of 19,300. Stop rule: below breakeven bills after six months, fix before spending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then the four rules, which are the four tests turned into actions. Point to the full booklet and to The cafe owner's toolkit for the frameworks behind each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B1B1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rtlCol="0"/>
          <a:lstStyle>
            <a:lvl1pPr algn="l" indent="0" marL="0">
              <a:buNone/>
              <a:defRPr lang="en-US" sz="2600" b="1" dirty="0">
                <a:solidFill>
                  <a:srgbClr val="2B1B1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ctr"/>
          <a:lstStyle/>
          <a:p>
            <a:pPr indent="0" marL="0">
              <a:buNone/>
            </a:pPr>
            <a:r>
              <a:rPr lang="en-US" sz="1100" b="1" spc="300" kern="0" dirty="0">
                <a:solidFill>
                  <a:srgbClr val="C69C6D"/>
                </a:solidFill>
              </a:rPr>
              <a:t>STRATEGY BOOKLET · CAFE SERIES · CASE STUDY</a:t>
            </a:r>
            <a:endParaRPr lang="en-US" sz="1100" dirty="0"/>
          </a:p>
        </p:txBody>
      </p:sp>
      <p:sp>
        <p:nvSpPr>
          <p:cNvPr id="3" name="Text 1"/>
          <p:cNvSpPr txBox="1"/>
          <p:nvPr/>
        </p:nvSpPr>
        <p:spPr>
          <a:xfrm>
            <a:off x="548640" y="868680"/>
            <a:ext cx="566928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Why do packed cafes still close?</a:t>
            </a:r>
            <a:endParaRPr lang="en-US" sz="3800" dirty="0"/>
          </a:p>
        </p:txBody>
      </p:sp>
      <p:sp>
        <p:nvSpPr>
          <p:cNvPr id="4" name="Text 2"/>
          <p:cNvSpPr txBox="1"/>
          <p:nvPr/>
        </p:nvSpPr>
        <p:spPr>
          <a:xfrm>
            <a:off x="548640" y="2194560"/>
            <a:ext cx="5120640" cy="685800"/>
          </a:xfrm>
          <a:prstGeom prst="rect">
            <a:avLst/>
          </a:prstGeom>
          <a:noFill/>
          <a:ln/>
        </p:spPr>
        <p:txBody>
          <a:bodyPr wrap="square" lIns="0" tIns="0" rIns="0" bIns="0" rtlCol="0" anchor="t"/>
          <a:lstStyle/>
          <a:p>
            <a:pPr indent="0" marL="0">
              <a:buNone/>
            </a:pPr>
            <a:r>
              <a:rPr lang="en-US" sz="1600" i="1" dirty="0">
                <a:solidFill>
                  <a:srgbClr val="C69C6D"/>
                </a:solidFill>
                <a:latin typeface="Cambria" pitchFamily="34" charset="0"/>
                <a:ea typeface="Cambria" pitchFamily="34" charset="-122"/>
                <a:cs typeface="Cambria" pitchFamily="34" charset="-120"/>
              </a:rPr>
              <a:t>A cafe is a bucket. Hype pours guests in; the second visit decides whether they stay.</a:t>
            </a:r>
            <a:endParaRPr lang="en-US" sz="1600" dirty="0"/>
          </a:p>
        </p:txBody>
      </p:sp>
      <p:sp>
        <p:nvSpPr>
          <p:cNvPr id="5" name="bucket"/>
          <p:cNvSpPr/>
          <p:nvPr/>
        </p:nvSpPr>
        <p:spPr>
          <a:xfrm flipV="1">
            <a:off x="6400800" y="1188720"/>
            <a:ext cx="2011680" cy="2011680"/>
          </a:xfrm>
          <a:prstGeom prst="trapezoid">
            <a:avLst/>
          </a:prstGeom>
          <a:solidFill>
            <a:srgbClr val="4A3528"/>
          </a:solidFill>
          <a:ln w="25400">
            <a:solidFill>
              <a:srgbClr val="D9822B"/>
            </a:solidFill>
            <a:prstDash val="solid"/>
          </a:ln>
        </p:spPr>
      </p:sp>
      <p:sp>
        <p:nvSpPr>
          <p:cNvPr id="6" name="Text 4"/>
          <p:cNvSpPr txBox="1"/>
          <p:nvPr/>
        </p:nvSpPr>
        <p:spPr>
          <a:xfrm>
            <a:off x="6400800" y="1600200"/>
            <a:ext cx="201168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100</a:t>
            </a:r>
            <a:endParaRPr lang="en-US" sz="3000" dirty="0"/>
          </a:p>
        </p:txBody>
      </p:sp>
      <p:sp>
        <p:nvSpPr>
          <p:cNvPr id="7" name="Text 5"/>
          <p:cNvSpPr txBox="1"/>
          <p:nvPr/>
        </p:nvSpPr>
        <p:spPr>
          <a:xfrm>
            <a:off x="6400800" y="2148840"/>
            <a:ext cx="2011680" cy="274320"/>
          </a:xfrm>
          <a:prstGeom prst="rect">
            <a:avLst/>
          </a:prstGeom>
          <a:noFill/>
          <a:ln/>
        </p:spPr>
        <p:txBody>
          <a:bodyPr wrap="square" lIns="0" tIns="0" rIns="0" bIns="0" rtlCol="0" anchor="ctr"/>
          <a:lstStyle/>
          <a:p>
            <a:pPr algn="ctr" indent="0" marL="0">
              <a:buNone/>
            </a:pPr>
            <a:r>
              <a:rPr lang="en-US" sz="1100" dirty="0">
                <a:solidFill>
                  <a:srgbClr val="C69C6D"/>
                </a:solidFill>
              </a:rPr>
              <a:t>first-timers in</a:t>
            </a:r>
            <a:endParaRPr lang="en-US" sz="1100" dirty="0"/>
          </a:p>
        </p:txBody>
      </p:sp>
      <p:sp>
        <p:nvSpPr>
          <p:cNvPr id="8" name="drip-1"/>
          <p:cNvSpPr/>
          <p:nvPr/>
        </p:nvSpPr>
        <p:spPr>
          <a:xfrm>
            <a:off x="6839712" y="3337560"/>
            <a:ext cx="128016" cy="182880"/>
          </a:xfrm>
          <a:prstGeom prst="ellipse">
            <a:avLst/>
          </a:prstGeom>
          <a:solidFill>
            <a:srgbClr val="D9822B"/>
          </a:solidFill>
          <a:ln w="12700">
            <a:solidFill>
              <a:srgbClr val="D9822B"/>
            </a:solidFill>
            <a:prstDash val="solid"/>
          </a:ln>
        </p:spPr>
      </p:sp>
      <p:sp>
        <p:nvSpPr>
          <p:cNvPr id="9" name="drip-2"/>
          <p:cNvSpPr/>
          <p:nvPr/>
        </p:nvSpPr>
        <p:spPr>
          <a:xfrm>
            <a:off x="7342632" y="3520440"/>
            <a:ext cx="128016" cy="182880"/>
          </a:xfrm>
          <a:prstGeom prst="ellipse">
            <a:avLst/>
          </a:prstGeom>
          <a:solidFill>
            <a:srgbClr val="D9822B"/>
          </a:solidFill>
          <a:ln w="12700">
            <a:solidFill>
              <a:srgbClr val="D9822B"/>
            </a:solidFill>
            <a:prstDash val="solid"/>
          </a:ln>
        </p:spPr>
      </p:sp>
      <p:sp>
        <p:nvSpPr>
          <p:cNvPr id="10" name="drip-3"/>
          <p:cNvSpPr/>
          <p:nvPr/>
        </p:nvSpPr>
        <p:spPr>
          <a:xfrm>
            <a:off x="7845552" y="3337560"/>
            <a:ext cx="128016" cy="182880"/>
          </a:xfrm>
          <a:prstGeom prst="ellipse">
            <a:avLst/>
          </a:prstGeom>
          <a:solidFill>
            <a:srgbClr val="D9822B"/>
          </a:solidFill>
          <a:ln w="12700">
            <a:solidFill>
              <a:srgbClr val="D9822B"/>
            </a:solidFill>
            <a:prstDash val="solid"/>
          </a:ln>
        </p:spPr>
      </p:sp>
      <p:sp>
        <p:nvSpPr>
          <p:cNvPr id="11" name="Text 9"/>
          <p:cNvSpPr txBox="1"/>
          <p:nvPr/>
        </p:nvSpPr>
        <p:spPr>
          <a:xfrm>
            <a:off x="6217920" y="3749040"/>
            <a:ext cx="2377440" cy="274320"/>
          </a:xfrm>
          <a:prstGeom prst="rect">
            <a:avLst/>
          </a:prstGeom>
          <a:noFill/>
          <a:ln/>
        </p:spPr>
        <p:txBody>
          <a:bodyPr wrap="square" lIns="0" tIns="0" rIns="0" bIns="0" rtlCol="0" anchor="ctr"/>
          <a:lstStyle/>
          <a:p>
            <a:pPr algn="ctr" indent="0" marL="0">
              <a:buNone/>
            </a:pPr>
            <a:r>
              <a:rPr lang="en-US" sz="1200" b="1" dirty="0">
                <a:solidFill>
                  <a:srgbClr val="D9822B"/>
                </a:solidFill>
              </a:rPr>
              <a:t>85 never come back</a:t>
            </a:r>
            <a:endParaRPr lang="en-US" sz="1200" dirty="0"/>
          </a:p>
        </p:txBody>
      </p:sp>
      <p:sp>
        <p:nvSpPr>
          <p:cNvPr id="12" name="Text 10"/>
          <p:cNvSpPr txBox="1"/>
          <p:nvPr/>
        </p:nvSpPr>
        <p:spPr>
          <a:xfrm>
            <a:off x="548640" y="4160520"/>
            <a:ext cx="5303520" cy="274320"/>
          </a:xfrm>
          <a:prstGeom prst="rect">
            <a:avLst/>
          </a:prstGeom>
          <a:noFill/>
          <a:ln/>
        </p:spPr>
        <p:txBody>
          <a:bodyPr wrap="square" lIns="0" tIns="0" rIns="0" bIns="0" rtlCol="0" anchor="ctr"/>
          <a:lstStyle/>
          <a:p>
            <a:pPr indent="0" marL="0">
              <a:buNone/>
            </a:pPr>
            <a:r>
              <a:rPr lang="en-US" sz="1200" dirty="0">
                <a:solidFill>
                  <a:srgbClr val="C69C6D"/>
                </a:solidFill>
              </a:rPr>
              <a:t>Third Wave · Cafe Coffee Day · Starbucks · Barista · the hype cafes</a:t>
            </a:r>
            <a:endParaRPr lang="en-US" sz="1200" dirty="0"/>
          </a:p>
        </p:txBody>
      </p:sp>
      <p:sp>
        <p:nvSpPr>
          <p:cNvPr id="13" name="Text 11"/>
          <p:cNvSpPr txBox="1"/>
          <p:nvPr/>
        </p:nvSpPr>
        <p:spPr>
          <a:xfrm>
            <a:off x="548640" y="4526280"/>
            <a:ext cx="4572000" cy="274320"/>
          </a:xfrm>
          <a:prstGeom prst="rect">
            <a:avLst/>
          </a:prstGeom>
          <a:noFill/>
          <a:ln/>
        </p:spPr>
        <p:txBody>
          <a:bodyPr wrap="square" lIns="0" tIns="0" rIns="0" bIns="0" rtlCol="0" anchor="ctr"/>
          <a:lstStyle/>
          <a:p>
            <a:pPr indent="0" marL="0">
              <a:buNone/>
            </a:pPr>
            <a:r>
              <a:rPr lang="en-US" sz="1200" b="1" dirty="0">
                <a:solidFill>
                  <a:srgbClr val="D9822B"/>
                </a:solidFill>
              </a:rPr>
              <a:t>Next  →  </a:t>
            </a:r>
            <a:pPr indent="0" marL="0">
              <a:buNone/>
            </a:pPr>
            <a:r>
              <a:rPr lang="en-US" sz="1200" dirty="0">
                <a:solidFill>
                  <a:srgbClr val="FFFFFF"/>
                </a:solidFill>
              </a:rPr>
              <a:t>First, how big the boom 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Demand was never the problem</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1 · THE BOOM</a:t>
            </a:r>
            <a:endParaRPr lang="en-US" sz="1000" dirty="0"/>
          </a:p>
        </p:txBody>
      </p:sp>
      <p:sp>
        <p:nvSpPr>
          <p:cNvPr id="4" name="progress-1"/>
          <p:cNvSpPr/>
          <p:nvPr/>
        </p:nvSpPr>
        <p:spPr>
          <a:xfrm>
            <a:off x="7818120" y="283464"/>
            <a:ext cx="118872" cy="118872"/>
          </a:xfrm>
          <a:prstGeom prst="ellipse">
            <a:avLst/>
          </a:prstGeom>
          <a:solidFill>
            <a:srgbClr val="D9822B"/>
          </a:solidFill>
          <a:ln w="6350">
            <a:solidFill>
              <a:srgbClr val="D9822B"/>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E4D9CF"/>
          </a:solidFill>
          <a:ln w="6350">
            <a:solidFill>
              <a:srgbClr val="E4D9CF"/>
            </a:solidFill>
            <a:prstDash val="solid"/>
          </a:ln>
        </p:spPr>
      </p:sp>
      <p:sp>
        <p:nvSpPr>
          <p:cNvPr id="7" name="progress-4"/>
          <p:cNvSpPr/>
          <p:nvPr/>
        </p:nvSpPr>
        <p:spPr>
          <a:xfrm>
            <a:off x="8476488" y="283464"/>
            <a:ext cx="118872" cy="118872"/>
          </a:xfrm>
          <a:prstGeom prst="ellipse">
            <a:avLst/>
          </a:prstGeom>
          <a:solidFill>
            <a:srgbClr val="E4D9CF"/>
          </a:solidFill>
          <a:ln w="6350">
            <a:solidFill>
              <a:srgbClr val="E4D9CF"/>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The cafe boom: more Indians than ever are paying Rs 250 to Rs 400 for a cup, in more cities than ever.</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World Coffee Portal 2025; Entrackr 2025 (Blue Tokai, Chaayos); Restaurant India 2026 (Third Wave).</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So where do all those guests go?</a:t>
            </a:r>
            <a:endParaRPr lang="en-US" sz="1100" dirty="0"/>
          </a:p>
        </p:txBody>
      </p:sp>
      <p:sp>
        <p:nvSpPr>
          <p:cNvPr id="12" name="boom-icon-1"/>
          <p:cNvSpPr/>
          <p:nvPr/>
        </p:nvSpPr>
        <p:spPr>
          <a:xfrm>
            <a:off x="457200" y="1783080"/>
            <a:ext cx="548640" cy="548640"/>
          </a:xfrm>
          <a:prstGeom prst="ellipse">
            <a:avLst/>
          </a:prstGeom>
          <a:solidFill>
            <a:srgbClr val="D9822B"/>
          </a:solidFill>
          <a:ln w="12700">
            <a:solidFill>
              <a:srgbClr val="D9822B"/>
            </a:solidFill>
            <a:prstDash val="solid"/>
          </a:ln>
        </p:spPr>
      </p:sp>
      <p:pic>
        <p:nvPicPr>
          <p:cNvPr id="13" name="Image 0" descr="preencoded.png">    </p:cNvPr>
          <p:cNvPicPr>
            <a:picLocks noChangeAspect="1"/>
          </p:cNvPicPr>
          <p:nvPr/>
        </p:nvPicPr>
        <p:blipFill>
          <a:blip r:embed="rId1"/>
          <a:stretch>
            <a:fillRect/>
          </a:stretch>
        </p:blipFill>
        <p:spPr>
          <a:xfrm>
            <a:off x="594360" y="1920240"/>
            <a:ext cx="274320" cy="274320"/>
          </a:xfrm>
          <a:prstGeom prst="rect">
            <a:avLst/>
          </a:prstGeom>
        </p:spPr>
      </p:pic>
      <p:sp>
        <p:nvSpPr>
          <p:cNvPr id="14" name="Text 11"/>
          <p:cNvSpPr txBox="1"/>
          <p:nvPr/>
        </p:nvSpPr>
        <p:spPr>
          <a:xfrm>
            <a:off x="457200" y="2514600"/>
            <a:ext cx="1920240" cy="594360"/>
          </a:xfrm>
          <a:prstGeom prst="rect">
            <a:avLst/>
          </a:prstGeom>
          <a:noFill/>
          <a:ln/>
        </p:spPr>
        <p:txBody>
          <a:bodyPr wrap="square" lIns="0" tIns="0" rIns="0" bIns="0" rtlCol="0" anchor="ctr"/>
          <a:lstStyle/>
          <a:p>
            <a:pPr indent="0" marL="0">
              <a:buNone/>
            </a:pPr>
            <a:r>
              <a:rPr lang="en-US" sz="3000" b="1" dirty="0">
                <a:solidFill>
                  <a:srgbClr val="D9822B"/>
                </a:solidFill>
                <a:latin typeface="Cambria" pitchFamily="34" charset="0"/>
                <a:ea typeface="Cambria" pitchFamily="34" charset="-122"/>
                <a:cs typeface="Cambria" pitchFamily="34" charset="-120"/>
              </a:rPr>
              <a:t>5,339</a:t>
            </a:r>
            <a:endParaRPr lang="en-US" sz="3000" dirty="0"/>
          </a:p>
        </p:txBody>
      </p:sp>
      <p:sp>
        <p:nvSpPr>
          <p:cNvPr id="15" name="Text 12"/>
          <p:cNvSpPr txBox="1"/>
          <p:nvPr/>
        </p:nvSpPr>
        <p:spPr>
          <a:xfrm>
            <a:off x="457200" y="3127248"/>
            <a:ext cx="1828800" cy="548640"/>
          </a:xfrm>
          <a:prstGeom prst="rect">
            <a:avLst/>
          </a:prstGeom>
          <a:noFill/>
          <a:ln/>
        </p:spPr>
        <p:txBody>
          <a:bodyPr wrap="square" lIns="0" tIns="0" rIns="0" bIns="0" rtlCol="0" anchor="t"/>
          <a:lstStyle/>
          <a:p>
            <a:pPr indent="0" marL="0">
              <a:buNone/>
            </a:pPr>
            <a:r>
              <a:rPr lang="en-US" sz="1200" dirty="0">
                <a:solidFill>
                  <a:srgbClr val="7A6A60"/>
                </a:solidFill>
              </a:rPr>
              <a:t>branded coffee shops in India, 2025</a:t>
            </a:r>
            <a:endParaRPr lang="en-US" sz="1200" dirty="0"/>
          </a:p>
        </p:txBody>
      </p:sp>
      <p:sp>
        <p:nvSpPr>
          <p:cNvPr id="16" name="boom-icon-2"/>
          <p:cNvSpPr/>
          <p:nvPr/>
        </p:nvSpPr>
        <p:spPr>
          <a:xfrm>
            <a:off x="2532888" y="1783080"/>
            <a:ext cx="548640" cy="548640"/>
          </a:xfrm>
          <a:prstGeom prst="ellipse">
            <a:avLst/>
          </a:prstGeom>
          <a:solidFill>
            <a:srgbClr val="2B1B12"/>
          </a:solidFill>
          <a:ln w="12700">
            <a:solidFill>
              <a:srgbClr val="2B1B12"/>
            </a:solidFill>
            <a:prstDash val="solid"/>
          </a:ln>
        </p:spPr>
      </p:sp>
      <p:pic>
        <p:nvPicPr>
          <p:cNvPr id="17" name="Image 1" descr="preencoded.png">    </p:cNvPr>
          <p:cNvPicPr>
            <a:picLocks noChangeAspect="1"/>
          </p:cNvPicPr>
          <p:nvPr/>
        </p:nvPicPr>
        <p:blipFill>
          <a:blip r:embed="rId2"/>
          <a:stretch>
            <a:fillRect/>
          </a:stretch>
        </p:blipFill>
        <p:spPr>
          <a:xfrm>
            <a:off x="2670048" y="1920240"/>
            <a:ext cx="274320" cy="274320"/>
          </a:xfrm>
          <a:prstGeom prst="rect">
            <a:avLst/>
          </a:prstGeom>
        </p:spPr>
      </p:pic>
      <p:sp>
        <p:nvSpPr>
          <p:cNvPr id="18" name="Text 14"/>
          <p:cNvSpPr txBox="1"/>
          <p:nvPr/>
        </p:nvSpPr>
        <p:spPr>
          <a:xfrm>
            <a:off x="2532888" y="2514600"/>
            <a:ext cx="1920240" cy="59436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Rs 325 cr</a:t>
            </a:r>
            <a:endParaRPr lang="en-US" sz="3000" dirty="0"/>
          </a:p>
        </p:txBody>
      </p:sp>
      <p:sp>
        <p:nvSpPr>
          <p:cNvPr id="19" name="Text 15"/>
          <p:cNvSpPr txBox="1"/>
          <p:nvPr/>
        </p:nvSpPr>
        <p:spPr>
          <a:xfrm>
            <a:off x="2532888" y="3127248"/>
            <a:ext cx="1828800" cy="548640"/>
          </a:xfrm>
          <a:prstGeom prst="rect">
            <a:avLst/>
          </a:prstGeom>
          <a:noFill/>
          <a:ln/>
        </p:spPr>
        <p:txBody>
          <a:bodyPr wrap="square" lIns="0" tIns="0" rIns="0" bIns="0" rtlCol="0" anchor="t"/>
          <a:lstStyle/>
          <a:p>
            <a:pPr indent="0" marL="0">
              <a:buNone/>
            </a:pPr>
            <a:r>
              <a:rPr lang="en-US" sz="1200" dirty="0">
                <a:solidFill>
                  <a:srgbClr val="7A6A60"/>
                </a:solidFill>
              </a:rPr>
              <a:t>Blue Tokai revenue, FY25</a:t>
            </a:r>
            <a:endParaRPr lang="en-US" sz="1200" dirty="0"/>
          </a:p>
        </p:txBody>
      </p:sp>
      <p:sp>
        <p:nvSpPr>
          <p:cNvPr id="20" name="boom-icon-3"/>
          <p:cNvSpPr/>
          <p:nvPr/>
        </p:nvSpPr>
        <p:spPr>
          <a:xfrm>
            <a:off x="4608576" y="1783080"/>
            <a:ext cx="548640" cy="548640"/>
          </a:xfrm>
          <a:prstGeom prst="ellipse">
            <a:avLst/>
          </a:prstGeom>
          <a:solidFill>
            <a:srgbClr val="2B1B12"/>
          </a:solidFill>
          <a:ln w="12700">
            <a:solidFill>
              <a:srgbClr val="2B1B12"/>
            </a:solidFill>
            <a:prstDash val="solid"/>
          </a:ln>
        </p:spPr>
      </p:sp>
      <p:pic>
        <p:nvPicPr>
          <p:cNvPr id="21" name="Image 2" descr="preencoded.png">    </p:cNvPr>
          <p:cNvPicPr>
            <a:picLocks noChangeAspect="1"/>
          </p:cNvPicPr>
          <p:nvPr/>
        </p:nvPicPr>
        <p:blipFill>
          <a:blip r:embed="rId3"/>
          <a:stretch>
            <a:fillRect/>
          </a:stretch>
        </p:blipFill>
        <p:spPr>
          <a:xfrm>
            <a:off x="4745736" y="1920240"/>
            <a:ext cx="274320" cy="274320"/>
          </a:xfrm>
          <a:prstGeom prst="rect">
            <a:avLst/>
          </a:prstGeom>
        </p:spPr>
      </p:pic>
      <p:sp>
        <p:nvSpPr>
          <p:cNvPr id="22" name="Text 17"/>
          <p:cNvSpPr txBox="1"/>
          <p:nvPr/>
        </p:nvSpPr>
        <p:spPr>
          <a:xfrm>
            <a:off x="4608576" y="2514600"/>
            <a:ext cx="1920240" cy="59436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Rs 310.6 cr</a:t>
            </a:r>
            <a:endParaRPr lang="en-US" sz="3000" dirty="0"/>
          </a:p>
        </p:txBody>
      </p:sp>
      <p:sp>
        <p:nvSpPr>
          <p:cNvPr id="23" name="Text 18"/>
          <p:cNvSpPr txBox="1"/>
          <p:nvPr/>
        </p:nvSpPr>
        <p:spPr>
          <a:xfrm>
            <a:off x="4608576" y="3127248"/>
            <a:ext cx="1828800" cy="548640"/>
          </a:xfrm>
          <a:prstGeom prst="rect">
            <a:avLst/>
          </a:prstGeom>
          <a:noFill/>
          <a:ln/>
        </p:spPr>
        <p:txBody>
          <a:bodyPr wrap="square" lIns="0" tIns="0" rIns="0" bIns="0" rtlCol="0" anchor="t"/>
          <a:lstStyle/>
          <a:p>
            <a:pPr indent="0" marL="0">
              <a:buNone/>
            </a:pPr>
            <a:r>
              <a:rPr lang="en-US" sz="1200" dirty="0">
                <a:solidFill>
                  <a:srgbClr val="7A6A60"/>
                </a:solidFill>
              </a:rPr>
              <a:t>Chaayos revenue, FY25, EBITDA positive</a:t>
            </a:r>
            <a:endParaRPr lang="en-US" sz="1200" dirty="0"/>
          </a:p>
        </p:txBody>
      </p:sp>
      <p:sp>
        <p:nvSpPr>
          <p:cNvPr id="24" name="boom-icon-4"/>
          <p:cNvSpPr/>
          <p:nvPr/>
        </p:nvSpPr>
        <p:spPr>
          <a:xfrm>
            <a:off x="6684264" y="1783080"/>
            <a:ext cx="548640" cy="548640"/>
          </a:xfrm>
          <a:prstGeom prst="ellipse">
            <a:avLst/>
          </a:prstGeom>
          <a:solidFill>
            <a:srgbClr val="2B1B12"/>
          </a:solidFill>
          <a:ln w="12700">
            <a:solidFill>
              <a:srgbClr val="2B1B12"/>
            </a:solidFill>
            <a:prstDash val="solid"/>
          </a:ln>
        </p:spPr>
      </p:sp>
      <p:pic>
        <p:nvPicPr>
          <p:cNvPr id="25" name="Image 3" descr="preencoded.png">    </p:cNvPr>
          <p:cNvPicPr>
            <a:picLocks noChangeAspect="1"/>
          </p:cNvPicPr>
          <p:nvPr/>
        </p:nvPicPr>
        <p:blipFill>
          <a:blip r:embed="rId4"/>
          <a:stretch>
            <a:fillRect/>
          </a:stretch>
        </p:blipFill>
        <p:spPr>
          <a:xfrm>
            <a:off x="6821424" y="1920240"/>
            <a:ext cx="274320" cy="274320"/>
          </a:xfrm>
          <a:prstGeom prst="rect">
            <a:avLst/>
          </a:prstGeom>
        </p:spPr>
      </p:pic>
      <p:sp>
        <p:nvSpPr>
          <p:cNvPr id="26" name="Text 20"/>
          <p:cNvSpPr txBox="1"/>
          <p:nvPr/>
        </p:nvSpPr>
        <p:spPr>
          <a:xfrm>
            <a:off x="6684264" y="2514600"/>
            <a:ext cx="1920240" cy="594360"/>
          </a:xfrm>
          <a:prstGeom prst="rect">
            <a:avLst/>
          </a:prstGeom>
          <a:noFill/>
          <a:ln/>
        </p:spPr>
        <p:txBody>
          <a:bodyPr wrap="square" lIns="0" tIns="0" rIns="0" bIns="0" rtlCol="0" anchor="ctr"/>
          <a:lstStyle/>
          <a:p>
            <a:pPr indent="0" marL="0">
              <a:buNone/>
            </a:pPr>
            <a:r>
              <a:rPr lang="en-US" sz="3000" b="1" dirty="0">
                <a:solidFill>
                  <a:srgbClr val="2B1B12"/>
                </a:solidFill>
                <a:latin typeface="Cambria" pitchFamily="34" charset="0"/>
                <a:ea typeface="Cambria" pitchFamily="34" charset="-122"/>
                <a:cs typeface="Cambria" pitchFamily="34" charset="-120"/>
              </a:rPr>
              <a:t>250th</a:t>
            </a:r>
            <a:endParaRPr lang="en-US" sz="3000" dirty="0"/>
          </a:p>
        </p:txBody>
      </p:sp>
      <p:sp>
        <p:nvSpPr>
          <p:cNvPr id="27" name="Text 21"/>
          <p:cNvSpPr txBox="1"/>
          <p:nvPr/>
        </p:nvSpPr>
        <p:spPr>
          <a:xfrm>
            <a:off x="6684264" y="3127248"/>
            <a:ext cx="1828800" cy="548640"/>
          </a:xfrm>
          <a:prstGeom prst="rect">
            <a:avLst/>
          </a:prstGeom>
          <a:noFill/>
          <a:ln/>
        </p:spPr>
        <p:txBody>
          <a:bodyPr wrap="square" lIns="0" tIns="0" rIns="0" bIns="0" rtlCol="0" anchor="t"/>
          <a:lstStyle/>
          <a:p>
            <a:pPr indent="0" marL="0">
              <a:buNone/>
            </a:pPr>
            <a:r>
              <a:rPr lang="en-US" sz="1200" dirty="0">
                <a:solidFill>
                  <a:srgbClr val="7A6A60"/>
                </a:solidFill>
              </a:rPr>
              <a:t>Third Wave cafe, opened in Lucknow</a:t>
            </a:r>
            <a:endParaRPr lang="en-US" sz="1200" dirty="0"/>
          </a:p>
        </p:txBody>
      </p:sp>
      <p:sp>
        <p:nvSpPr>
          <p:cNvPr id="28" name="Shape 22"/>
          <p:cNvSpPr/>
          <p:nvPr/>
        </p:nvSpPr>
        <p:spPr>
          <a:xfrm>
            <a:off x="457200" y="3931920"/>
            <a:ext cx="8229600" cy="0"/>
          </a:xfrm>
          <a:prstGeom prst="line">
            <a:avLst/>
          </a:prstGeom>
          <a:noFill/>
          <a:ln w="12700">
            <a:solidFill>
              <a:srgbClr val="E4D9CF"/>
            </a:solidFill>
            <a:prstDash val="solid"/>
          </a:ln>
        </p:spPr>
      </p:sp>
      <p:sp>
        <p:nvSpPr>
          <p:cNvPr id="29" name="Text 23"/>
          <p:cNvSpPr txBox="1"/>
          <p:nvPr/>
        </p:nvSpPr>
        <p:spPr>
          <a:xfrm>
            <a:off x="457200" y="4069080"/>
            <a:ext cx="8229600" cy="365760"/>
          </a:xfrm>
          <a:prstGeom prst="rect">
            <a:avLst/>
          </a:prstGeom>
          <a:noFill/>
          <a:ln/>
        </p:spPr>
        <p:txBody>
          <a:bodyPr wrap="square" lIns="0" tIns="0" rIns="0" bIns="0" rtlCol="0" anchor="ctr"/>
          <a:lstStyle/>
          <a:p>
            <a:pPr indent="0" marL="0">
              <a:buNone/>
            </a:pPr>
            <a:r>
              <a:rPr lang="en-US" sz="1500" i="1" dirty="0">
                <a:solidFill>
                  <a:srgbClr val="2B1B12"/>
                </a:solidFill>
                <a:latin typeface="Cambria" pitchFamily="34" charset="0"/>
                <a:ea typeface="Cambria" pitchFamily="34" charset="-122"/>
                <a:cs typeface="Cambria" pitchFamily="34" charset="-120"/>
              </a:rPr>
              <a:t>Yet the same streets that fill on launch weekend are full of cafes that shut within a year.</a:t>
            </a:r>
            <a:endParaRPr lang="en-US" sz="15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100 first-timers, 3 regulars</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2 · THE LEAK</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D9822B"/>
          </a:solidFill>
          <a:ln w="6350">
            <a:solidFill>
              <a:srgbClr val="D9822B"/>
            </a:solidFill>
            <a:prstDash val="solid"/>
          </a:ln>
        </p:spPr>
      </p:sp>
      <p:sp>
        <p:nvSpPr>
          <p:cNvPr id="6" name="progress-3"/>
          <p:cNvSpPr/>
          <p:nvPr/>
        </p:nvSpPr>
        <p:spPr>
          <a:xfrm>
            <a:off x="8257032" y="283464"/>
            <a:ext cx="118872" cy="118872"/>
          </a:xfrm>
          <a:prstGeom prst="ellipse">
            <a:avLst/>
          </a:prstGeom>
          <a:solidFill>
            <a:srgbClr val="E4D9CF"/>
          </a:solidFill>
          <a:ln w="6350">
            <a:solidFill>
              <a:srgbClr val="E4D9CF"/>
            </a:solidFill>
            <a:prstDash val="solid"/>
          </a:ln>
        </p:spPr>
      </p:sp>
      <p:sp>
        <p:nvSpPr>
          <p:cNvPr id="7" name="progress-4"/>
          <p:cNvSpPr/>
          <p:nvPr/>
        </p:nvSpPr>
        <p:spPr>
          <a:xfrm>
            <a:off x="8476488" y="283464"/>
            <a:ext cx="118872" cy="118872"/>
          </a:xfrm>
          <a:prstGeom prst="ellipse">
            <a:avLst/>
          </a:prstGeom>
          <a:solidFill>
            <a:srgbClr val="E4D9CF"/>
          </a:solidFill>
          <a:ln w="6350">
            <a:solidFill>
              <a:srgbClr val="E4D9CF"/>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The retention leak: the share of first-time guests who never come back. It is where most cafes break.</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Bloom Intelligence (US data). Regulars sum: 3,300 bills a month, 4 visits per regular (assumption).</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Even the big names fell into it.</a:t>
            </a:r>
            <a:endParaRPr lang="en-US" sz="1100" dirty="0"/>
          </a:p>
        </p:txBody>
      </p:sp>
      <p:sp>
        <p:nvSpPr>
          <p:cNvPr id="12" name="funnel-1"/>
          <p:cNvSpPr/>
          <p:nvPr/>
        </p:nvSpPr>
        <p:spPr>
          <a:xfrm>
            <a:off x="457200" y="1691640"/>
            <a:ext cx="3017520" cy="548640"/>
          </a:xfrm>
          <a:prstGeom prst="rect">
            <a:avLst/>
          </a:prstGeom>
          <a:solidFill>
            <a:srgbClr val="2B1B12"/>
          </a:solidFill>
          <a:ln w="12700">
            <a:solidFill>
              <a:srgbClr val="2B1B12"/>
            </a:solidFill>
            <a:prstDash val="solid"/>
          </a:ln>
        </p:spPr>
      </p:sp>
      <p:sp>
        <p:nvSpPr>
          <p:cNvPr id="13" name="Text 11"/>
          <p:cNvSpPr txBox="1"/>
          <p:nvPr/>
        </p:nvSpPr>
        <p:spPr>
          <a:xfrm>
            <a:off x="3611880" y="1691640"/>
            <a:ext cx="731520" cy="548640"/>
          </a:xfrm>
          <a:prstGeom prst="rect">
            <a:avLst/>
          </a:prstGeom>
          <a:noFill/>
          <a:ln/>
        </p:spPr>
        <p:txBody>
          <a:bodyPr wrap="square" lIns="0" tIns="0" rIns="0" bIns="0" rtlCol="0" anchor="ctr"/>
          <a:lstStyle/>
          <a:p>
            <a:pPr indent="0" marL="0">
              <a:buNone/>
            </a:pPr>
            <a:r>
              <a:rPr lang="en-US" sz="2600" b="1" dirty="0">
                <a:solidFill>
                  <a:srgbClr val="2B1B12"/>
                </a:solidFill>
                <a:latin typeface="Cambria" pitchFamily="34" charset="0"/>
                <a:ea typeface="Cambria" pitchFamily="34" charset="-122"/>
                <a:cs typeface="Cambria" pitchFamily="34" charset="-120"/>
              </a:rPr>
              <a:t>100</a:t>
            </a:r>
            <a:endParaRPr lang="en-US" sz="2600" dirty="0"/>
          </a:p>
        </p:txBody>
      </p:sp>
      <p:sp>
        <p:nvSpPr>
          <p:cNvPr id="14" name="Text 12"/>
          <p:cNvSpPr txBox="1"/>
          <p:nvPr/>
        </p:nvSpPr>
        <p:spPr>
          <a:xfrm>
            <a:off x="4343400" y="1691640"/>
            <a:ext cx="2011680" cy="548640"/>
          </a:xfrm>
          <a:prstGeom prst="rect">
            <a:avLst/>
          </a:prstGeom>
          <a:noFill/>
          <a:ln/>
        </p:spPr>
        <p:txBody>
          <a:bodyPr wrap="square" lIns="0" tIns="0" rIns="0" bIns="0" rtlCol="0" anchor="ctr"/>
          <a:lstStyle/>
          <a:p>
            <a:pPr indent="0" marL="0">
              <a:buNone/>
            </a:pPr>
            <a:r>
              <a:rPr lang="en-US" sz="1300" dirty="0">
                <a:solidFill>
                  <a:srgbClr val="2B1B12"/>
                </a:solidFill>
              </a:rPr>
              <a:t>walk in once</a:t>
            </a:r>
            <a:endParaRPr lang="en-US" sz="1300" dirty="0"/>
          </a:p>
        </p:txBody>
      </p:sp>
      <p:sp>
        <p:nvSpPr>
          <p:cNvPr id="15" name="funnel-2"/>
          <p:cNvSpPr/>
          <p:nvPr/>
        </p:nvSpPr>
        <p:spPr>
          <a:xfrm>
            <a:off x="457200" y="2560320"/>
            <a:ext cx="452628" cy="548640"/>
          </a:xfrm>
          <a:prstGeom prst="rect">
            <a:avLst/>
          </a:prstGeom>
          <a:solidFill>
            <a:srgbClr val="C69C6D"/>
          </a:solidFill>
          <a:ln w="12700">
            <a:solidFill>
              <a:srgbClr val="C69C6D"/>
            </a:solidFill>
            <a:prstDash val="solid"/>
          </a:ln>
        </p:spPr>
      </p:sp>
      <p:sp>
        <p:nvSpPr>
          <p:cNvPr id="16" name="Text 14"/>
          <p:cNvSpPr txBox="1"/>
          <p:nvPr/>
        </p:nvSpPr>
        <p:spPr>
          <a:xfrm>
            <a:off x="1046988" y="2560320"/>
            <a:ext cx="731520" cy="548640"/>
          </a:xfrm>
          <a:prstGeom prst="rect">
            <a:avLst/>
          </a:prstGeom>
          <a:noFill/>
          <a:ln/>
        </p:spPr>
        <p:txBody>
          <a:bodyPr wrap="square" lIns="0" tIns="0" rIns="0" bIns="0" rtlCol="0" anchor="ctr"/>
          <a:lstStyle/>
          <a:p>
            <a:pPr indent="0" marL="0">
              <a:buNone/>
            </a:pPr>
            <a:r>
              <a:rPr lang="en-US" sz="2600" b="1" dirty="0">
                <a:solidFill>
                  <a:srgbClr val="9C7650"/>
                </a:solidFill>
                <a:latin typeface="Cambria" pitchFamily="34" charset="0"/>
                <a:ea typeface="Cambria" pitchFamily="34" charset="-122"/>
                <a:cs typeface="Cambria" pitchFamily="34" charset="-120"/>
              </a:rPr>
              <a:t>15</a:t>
            </a:r>
            <a:endParaRPr lang="en-US" sz="2600" dirty="0"/>
          </a:p>
        </p:txBody>
      </p:sp>
      <p:sp>
        <p:nvSpPr>
          <p:cNvPr id="17" name="Text 15"/>
          <p:cNvSpPr txBox="1"/>
          <p:nvPr/>
        </p:nvSpPr>
        <p:spPr>
          <a:xfrm>
            <a:off x="1778508" y="2560320"/>
            <a:ext cx="2011680" cy="548640"/>
          </a:xfrm>
          <a:prstGeom prst="rect">
            <a:avLst/>
          </a:prstGeom>
          <a:noFill/>
          <a:ln/>
        </p:spPr>
        <p:txBody>
          <a:bodyPr wrap="square" lIns="0" tIns="0" rIns="0" bIns="0" rtlCol="0" anchor="ctr"/>
          <a:lstStyle/>
          <a:p>
            <a:pPr indent="0" marL="0">
              <a:buNone/>
            </a:pPr>
            <a:r>
              <a:rPr lang="en-US" sz="1300" dirty="0">
                <a:solidFill>
                  <a:srgbClr val="2B1B12"/>
                </a:solidFill>
              </a:rPr>
              <a:t>come back at all</a:t>
            </a:r>
            <a:endParaRPr lang="en-US" sz="1300" dirty="0"/>
          </a:p>
        </p:txBody>
      </p:sp>
      <p:sp>
        <p:nvSpPr>
          <p:cNvPr id="18" name="funnel-3"/>
          <p:cNvSpPr/>
          <p:nvPr/>
        </p:nvSpPr>
        <p:spPr>
          <a:xfrm>
            <a:off x="457200" y="3429000"/>
            <a:ext cx="320040" cy="548640"/>
          </a:xfrm>
          <a:prstGeom prst="rect">
            <a:avLst/>
          </a:prstGeom>
          <a:solidFill>
            <a:srgbClr val="D9822B"/>
          </a:solidFill>
          <a:ln w="12700">
            <a:solidFill>
              <a:srgbClr val="D9822B"/>
            </a:solidFill>
            <a:prstDash val="solid"/>
          </a:ln>
        </p:spPr>
      </p:sp>
      <p:sp>
        <p:nvSpPr>
          <p:cNvPr id="19" name="Text 17"/>
          <p:cNvSpPr txBox="1"/>
          <p:nvPr/>
        </p:nvSpPr>
        <p:spPr>
          <a:xfrm>
            <a:off x="914400" y="3429000"/>
            <a:ext cx="731520" cy="548640"/>
          </a:xfrm>
          <a:prstGeom prst="rect">
            <a:avLst/>
          </a:prstGeom>
          <a:noFill/>
          <a:ln/>
        </p:spPr>
        <p:txBody>
          <a:bodyPr wrap="square" lIns="0" tIns="0" rIns="0" bIns="0" rtlCol="0" anchor="ctr"/>
          <a:lstStyle/>
          <a:p>
            <a:pPr indent="0" marL="0">
              <a:buNone/>
            </a:pPr>
            <a:r>
              <a:rPr lang="en-US" sz="2600" b="1" dirty="0">
                <a:solidFill>
                  <a:srgbClr val="D9822B"/>
                </a:solidFill>
                <a:latin typeface="Cambria" pitchFamily="34" charset="0"/>
                <a:ea typeface="Cambria" pitchFamily="34" charset="-122"/>
                <a:cs typeface="Cambria" pitchFamily="34" charset="-120"/>
              </a:rPr>
              <a:t>3</a:t>
            </a:r>
            <a:endParaRPr lang="en-US" sz="2600" dirty="0"/>
          </a:p>
        </p:txBody>
      </p:sp>
      <p:sp>
        <p:nvSpPr>
          <p:cNvPr id="20" name="Text 18"/>
          <p:cNvSpPr txBox="1"/>
          <p:nvPr/>
        </p:nvSpPr>
        <p:spPr>
          <a:xfrm>
            <a:off x="1645920" y="3429000"/>
            <a:ext cx="2011680" cy="548640"/>
          </a:xfrm>
          <a:prstGeom prst="rect">
            <a:avLst/>
          </a:prstGeom>
          <a:noFill/>
          <a:ln/>
        </p:spPr>
        <p:txBody>
          <a:bodyPr wrap="square" lIns="0" tIns="0" rIns="0" bIns="0" rtlCol="0" anchor="ctr"/>
          <a:lstStyle/>
          <a:p>
            <a:pPr indent="0" marL="0">
              <a:buNone/>
            </a:pPr>
            <a:r>
              <a:rPr lang="en-US" sz="1300" dirty="0">
                <a:solidFill>
                  <a:srgbClr val="2B1B12"/>
                </a:solidFill>
              </a:rPr>
              <a:t>become regulars</a:t>
            </a:r>
            <a:endParaRPr lang="en-US" sz="1300" dirty="0"/>
          </a:p>
        </p:txBody>
      </p:sp>
      <p:sp>
        <p:nvSpPr>
          <p:cNvPr id="21" name="sum-card"/>
          <p:cNvSpPr/>
          <p:nvPr/>
        </p:nvSpPr>
        <p:spPr>
          <a:xfrm>
            <a:off x="5669280" y="1600200"/>
            <a:ext cx="3017520" cy="2788920"/>
          </a:xfrm>
          <a:prstGeom prst="roundRect">
            <a:avLst>
              <a:gd name="adj" fmla="val 3279"/>
            </a:avLst>
          </a:prstGeom>
          <a:solidFill>
            <a:srgbClr val="F6F1EC"/>
          </a:solidFill>
          <a:ln w="12700">
            <a:solidFill>
              <a:srgbClr val="F6F1EC"/>
            </a:solidFill>
            <a:prstDash val="solid"/>
          </a:ln>
        </p:spPr>
      </p:sp>
      <p:sp>
        <p:nvSpPr>
          <p:cNvPr id="22" name="Text 20"/>
          <p:cNvSpPr txBox="1"/>
          <p:nvPr/>
        </p:nvSpPr>
        <p:spPr>
          <a:xfrm>
            <a:off x="5897880" y="1783080"/>
            <a:ext cx="2560320" cy="228600"/>
          </a:xfrm>
          <a:prstGeom prst="rect">
            <a:avLst/>
          </a:prstGeom>
          <a:noFill/>
          <a:ln/>
        </p:spPr>
        <p:txBody>
          <a:bodyPr wrap="square" lIns="0" tIns="0" rIns="0" bIns="0" rtlCol="0" anchor="ctr"/>
          <a:lstStyle/>
          <a:p>
            <a:pPr indent="0" marL="0">
              <a:buNone/>
            </a:pPr>
            <a:r>
              <a:rPr lang="en-US" sz="1000" b="1" spc="200" kern="0" dirty="0">
                <a:solidFill>
                  <a:srgbClr val="D9822B"/>
                </a:solidFill>
              </a:rPr>
              <a:t>THE SUM</a:t>
            </a:r>
            <a:endParaRPr lang="en-US" sz="1000" dirty="0"/>
          </a:p>
        </p:txBody>
      </p:sp>
      <p:sp>
        <p:nvSpPr>
          <p:cNvPr id="23" name="Text 21"/>
          <p:cNvSpPr txBox="1"/>
          <p:nvPr/>
        </p:nvSpPr>
        <p:spPr>
          <a:xfrm>
            <a:off x="5897880" y="2057400"/>
            <a:ext cx="2651760" cy="2240280"/>
          </a:xfrm>
          <a:prstGeom prst="rect">
            <a:avLst/>
          </a:prstGeom>
          <a:noFill/>
          <a:ln/>
        </p:spPr>
        <p:txBody>
          <a:bodyPr wrap="square" lIns="0" tIns="0" rIns="0" bIns="0" rtlCol="0" anchor="t"/>
          <a:lstStyle/>
          <a:p>
            <a:pPr indent="0" marL="0">
              <a:buNone/>
            </a:pPr>
            <a:r>
              <a:rPr lang="en-US" sz="2800" b="1" dirty="0">
                <a:solidFill>
                  <a:srgbClr val="2B1B12"/>
                </a:solidFill>
                <a:latin typeface="Cambria" pitchFamily="34" charset="0"/>
                <a:ea typeface="Cambria" pitchFamily="34" charset="-122"/>
                <a:cs typeface="Cambria" pitchFamily="34" charset="-120"/>
              </a:rPr>
              <a:t>825</a:t>
            </a:r>
            <a:endParaRPr lang="en-US" sz="2800" dirty="0"/>
          </a:p>
          <a:p>
            <a:pPr indent="0" marL="0">
              <a:buNone/>
            </a:pPr>
            <a:r>
              <a:rPr lang="en-US" sz="1200" dirty="0">
                <a:solidFill>
                  <a:srgbClr val="7A6A60"/>
                </a:solidFill>
              </a:rPr>
              <a:t>regulars a cafe needs</a:t>
            </a:r>
            <a:endParaRPr lang="en-US" sz="2800" dirty="0"/>
          </a:p>
          <a:p>
            <a:pPr indent="0" marL="0">
              <a:buNone/>
            </a:pPr>
            <a:r>
              <a:rPr lang="en-US" sz="2800" b="1" dirty="0">
                <a:solidFill>
                  <a:srgbClr val="B5452F"/>
                </a:solidFill>
                <a:latin typeface="Cambria" pitchFamily="34" charset="0"/>
                <a:ea typeface="Cambria" pitchFamily="34" charset="-122"/>
                <a:cs typeface="Cambria" pitchFamily="34" charset="-120"/>
              </a:rPr>
              <a:t>27,500</a:t>
            </a:r>
            <a:endParaRPr lang="en-US" sz="2800" dirty="0"/>
          </a:p>
          <a:p>
            <a:pPr indent="0" marL="0">
              <a:buNone/>
            </a:pPr>
            <a:r>
              <a:rPr lang="en-US" sz="1200" dirty="0">
                <a:solidFill>
                  <a:srgbClr val="7A6A60"/>
                </a:solidFill>
              </a:rPr>
              <a:t>first visits to find them</a:t>
            </a:r>
            <a:endParaRPr lang="en-US" sz="2800" dirty="0"/>
          </a:p>
          <a:p>
            <a:pPr indent="0" marL="0">
              <a:buNone/>
            </a:pPr>
            <a:r>
              <a:rPr lang="en-US" sz="2800" b="1" dirty="0">
                <a:solidFill>
                  <a:srgbClr val="2B1B12"/>
                </a:solidFill>
                <a:latin typeface="Cambria" pitchFamily="34" charset="0"/>
                <a:ea typeface="Cambria" pitchFamily="34" charset="-122"/>
                <a:cs typeface="Cambria" pitchFamily="34" charset="-120"/>
              </a:rPr>
              <a:t>~3,000</a:t>
            </a:r>
            <a:endParaRPr lang="en-US" sz="2800" dirty="0"/>
          </a:p>
          <a:p>
            <a:pPr indent="0" marL="0">
              <a:buNone/>
            </a:pPr>
            <a:r>
              <a:rPr lang="en-US" sz="1200" dirty="0">
                <a:solidFill>
                  <a:srgbClr val="7A6A60"/>
                </a:solidFill>
              </a:rPr>
              <a:t>what a strong launch reel brings</a:t>
            </a:r>
            <a:endParaRPr lang="en-US" sz="28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Third Wave stopped, fixed the store, then grew</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3 · WHO FELL IN</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D9822B"/>
          </a:solidFill>
          <a:ln w="6350">
            <a:solidFill>
              <a:srgbClr val="D9822B"/>
            </a:solidFill>
            <a:prstDash val="solid"/>
          </a:ln>
        </p:spPr>
      </p:sp>
      <p:sp>
        <p:nvSpPr>
          <p:cNvPr id="7" name="progress-4"/>
          <p:cNvSpPr/>
          <p:nvPr/>
        </p:nvSpPr>
        <p:spPr>
          <a:xfrm>
            <a:off x="8476488" y="283464"/>
            <a:ext cx="118872" cy="118872"/>
          </a:xfrm>
          <a:prstGeom prst="ellipse">
            <a:avLst/>
          </a:prstGeom>
          <a:solidFill>
            <a:srgbClr val="E4D9CF"/>
          </a:solidFill>
          <a:ln w="6350">
            <a:solidFill>
              <a:srgbClr val="E4D9CF"/>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Prove before you grow: each new cafe should pay for itself before the next one opens.</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IBTimes (FY24 loss); The Ken (store figures, FY25); World Coffee Portal 2024; Restaurant India 2026.</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Two bigger names broke in the same place.</a:t>
            </a:r>
            <a:endParaRPr lang="en-US" sz="1100" dirty="0"/>
          </a:p>
        </p:txBody>
      </p:sp>
      <p:sp>
        <p:nvSpPr>
          <p:cNvPr id="12" name="Shape 10"/>
          <p:cNvSpPr/>
          <p:nvPr/>
        </p:nvSpPr>
        <p:spPr>
          <a:xfrm>
            <a:off x="1005840" y="2331720"/>
            <a:ext cx="5760720" cy="0"/>
          </a:xfrm>
          <a:prstGeom prst="line">
            <a:avLst/>
          </a:prstGeom>
          <a:noFill/>
          <a:ln w="25400">
            <a:solidFill>
              <a:srgbClr val="E4D9CF"/>
            </a:solidFill>
            <a:prstDash val="solid"/>
          </a:ln>
        </p:spPr>
      </p:sp>
      <p:sp>
        <p:nvSpPr>
          <p:cNvPr id="13" name="phase-dot-1"/>
          <p:cNvSpPr/>
          <p:nvPr/>
        </p:nvSpPr>
        <p:spPr>
          <a:xfrm>
            <a:off x="822960" y="2148840"/>
            <a:ext cx="365760" cy="365760"/>
          </a:xfrm>
          <a:prstGeom prst="ellipse">
            <a:avLst/>
          </a:prstGeom>
          <a:solidFill>
            <a:srgbClr val="B5452F"/>
          </a:solidFill>
          <a:ln w="12700">
            <a:solidFill>
              <a:srgbClr val="B5452F"/>
            </a:solidFill>
            <a:prstDash val="solid"/>
          </a:ln>
        </p:spPr>
      </p:sp>
      <p:sp>
        <p:nvSpPr>
          <p:cNvPr id="14" name="Text 12"/>
          <p:cNvSpPr txBox="1"/>
          <p:nvPr/>
        </p:nvSpPr>
        <p:spPr>
          <a:xfrm>
            <a:off x="457200" y="1600200"/>
            <a:ext cx="2560320" cy="274320"/>
          </a:xfrm>
          <a:prstGeom prst="rect">
            <a:avLst/>
          </a:prstGeom>
          <a:noFill/>
          <a:ln/>
        </p:spPr>
        <p:txBody>
          <a:bodyPr wrap="square" lIns="0" tIns="0" rIns="0" bIns="0" rtlCol="0" anchor="ctr"/>
          <a:lstStyle/>
          <a:p>
            <a:pPr indent="0" marL="0">
              <a:buNone/>
            </a:pPr>
            <a:r>
              <a:rPr lang="en-US" sz="1000" b="1" spc="100" kern="0" dirty="0">
                <a:solidFill>
                  <a:srgbClr val="B5452F"/>
                </a:solidFill>
              </a:rPr>
              <a:t>THE DASH · TO FY24</a:t>
            </a:r>
            <a:endParaRPr lang="en-US" sz="1000" dirty="0"/>
          </a:p>
        </p:txBody>
      </p:sp>
      <p:sp>
        <p:nvSpPr>
          <p:cNvPr id="15" name="Text 13"/>
          <p:cNvSpPr txBox="1"/>
          <p:nvPr/>
        </p:nvSpPr>
        <p:spPr>
          <a:xfrm>
            <a:off x="457200" y="2697480"/>
            <a:ext cx="2377440" cy="548640"/>
          </a:xfrm>
          <a:prstGeom prst="rect">
            <a:avLst/>
          </a:prstGeom>
          <a:noFill/>
          <a:ln/>
        </p:spPr>
        <p:txBody>
          <a:bodyPr wrap="square" lIns="0" tIns="0" rIns="0" bIns="0" rtlCol="0" anchor="ctr"/>
          <a:lstStyle/>
          <a:p>
            <a:pPr indent="0" marL="0">
              <a:buNone/>
            </a:pPr>
            <a:r>
              <a:rPr lang="en-US" sz="3000" b="1" dirty="0">
                <a:solidFill>
                  <a:srgbClr val="B5452F"/>
                </a:solidFill>
                <a:latin typeface="Cambria" pitchFamily="34" charset="0"/>
                <a:ea typeface="Cambria" pitchFamily="34" charset="-122"/>
                <a:cs typeface="Cambria" pitchFamily="34" charset="-120"/>
              </a:rPr>
              <a:t>Rs 110 cr</a:t>
            </a:r>
            <a:endParaRPr lang="en-US" sz="3000" dirty="0"/>
          </a:p>
        </p:txBody>
      </p:sp>
      <p:sp>
        <p:nvSpPr>
          <p:cNvPr id="16" name="Text 14"/>
          <p:cNvSpPr txBox="1"/>
          <p:nvPr/>
        </p:nvSpPr>
        <p:spPr>
          <a:xfrm>
            <a:off x="457200" y="3246120"/>
            <a:ext cx="2286000" cy="320040"/>
          </a:xfrm>
          <a:prstGeom prst="rect">
            <a:avLst/>
          </a:prstGeom>
          <a:noFill/>
          <a:ln/>
        </p:spPr>
        <p:txBody>
          <a:bodyPr wrap="square" lIns="0" tIns="0" rIns="0" bIns="0" rtlCol="0" anchor="ctr"/>
          <a:lstStyle/>
          <a:p>
            <a:pPr indent="0" marL="0">
              <a:buNone/>
            </a:pPr>
            <a:r>
              <a:rPr lang="en-US" sz="1200" dirty="0">
                <a:solidFill>
                  <a:srgbClr val="7A6A60"/>
                </a:solidFill>
              </a:rPr>
              <a:t>net loss, double the year before</a:t>
            </a:r>
            <a:endParaRPr lang="en-US" sz="1200" dirty="0"/>
          </a:p>
        </p:txBody>
      </p:sp>
      <p:sp>
        <p:nvSpPr>
          <p:cNvPr id="17" name="Text 15"/>
          <p:cNvSpPr txBox="1"/>
          <p:nvPr/>
        </p:nvSpPr>
        <p:spPr>
          <a:xfrm>
            <a:off x="457200" y="3657600"/>
            <a:ext cx="2286000" cy="548640"/>
          </a:xfrm>
          <a:prstGeom prst="rect">
            <a:avLst/>
          </a:prstGeom>
          <a:noFill/>
          <a:ln/>
        </p:spPr>
        <p:txBody>
          <a:bodyPr wrap="square" lIns="0" tIns="0" rIns="0" bIns="0" rtlCol="0" anchor="t"/>
          <a:lstStyle/>
          <a:p>
            <a:pPr indent="0" marL="0">
              <a:buNone/>
            </a:pPr>
            <a:r>
              <a:rPr lang="en-US" sz="1250" b="1" dirty="0">
                <a:solidFill>
                  <a:srgbClr val="2B1B12"/>
                </a:solidFill>
              </a:rPr>
              <a:t>~70% of stores lost money</a:t>
            </a:r>
            <a:endParaRPr lang="en-US" sz="1250" dirty="0"/>
          </a:p>
        </p:txBody>
      </p:sp>
      <p:sp>
        <p:nvSpPr>
          <p:cNvPr id="18" name="phase-dot-2"/>
          <p:cNvSpPr/>
          <p:nvPr/>
        </p:nvSpPr>
        <p:spPr>
          <a:xfrm>
            <a:off x="3703320" y="2148840"/>
            <a:ext cx="365760" cy="365760"/>
          </a:xfrm>
          <a:prstGeom prst="ellipse">
            <a:avLst/>
          </a:prstGeom>
          <a:solidFill>
            <a:srgbClr val="D9822B"/>
          </a:solidFill>
          <a:ln w="12700">
            <a:solidFill>
              <a:srgbClr val="D9822B"/>
            </a:solidFill>
            <a:prstDash val="solid"/>
          </a:ln>
        </p:spPr>
      </p:sp>
      <p:sp>
        <p:nvSpPr>
          <p:cNvPr id="19" name="Text 17"/>
          <p:cNvSpPr txBox="1"/>
          <p:nvPr/>
        </p:nvSpPr>
        <p:spPr>
          <a:xfrm>
            <a:off x="3337560" y="1600200"/>
            <a:ext cx="2560320" cy="274320"/>
          </a:xfrm>
          <a:prstGeom prst="rect">
            <a:avLst/>
          </a:prstGeom>
          <a:noFill/>
          <a:ln/>
        </p:spPr>
        <p:txBody>
          <a:bodyPr wrap="square" lIns="0" tIns="0" rIns="0" bIns="0" rtlCol="0" anchor="ctr"/>
          <a:lstStyle/>
          <a:p>
            <a:pPr indent="0" marL="0">
              <a:buNone/>
            </a:pPr>
            <a:r>
              <a:rPr lang="en-US" sz="1000" b="1" spc="100" kern="0" dirty="0">
                <a:solidFill>
                  <a:srgbClr val="D9822B"/>
                </a:solidFill>
              </a:rPr>
              <a:t>THE RESET · FY24 TO FY25</a:t>
            </a:r>
            <a:endParaRPr lang="en-US" sz="1000" dirty="0"/>
          </a:p>
        </p:txBody>
      </p:sp>
      <p:sp>
        <p:nvSpPr>
          <p:cNvPr id="20" name="Text 18"/>
          <p:cNvSpPr txBox="1"/>
          <p:nvPr/>
        </p:nvSpPr>
        <p:spPr>
          <a:xfrm>
            <a:off x="3337560" y="2697480"/>
            <a:ext cx="2377440" cy="548640"/>
          </a:xfrm>
          <a:prstGeom prst="rect">
            <a:avLst/>
          </a:prstGeom>
          <a:noFill/>
          <a:ln/>
        </p:spPr>
        <p:txBody>
          <a:bodyPr wrap="square" lIns="0" tIns="0" rIns="0" bIns="0" rtlCol="0" anchor="ctr"/>
          <a:lstStyle/>
          <a:p>
            <a:pPr indent="0" marL="0">
              <a:buNone/>
            </a:pPr>
            <a:r>
              <a:rPr lang="en-US" sz="3000" b="1" dirty="0">
                <a:solidFill>
                  <a:srgbClr val="D9822B"/>
                </a:solidFill>
                <a:latin typeface="Cambria" pitchFamily="34" charset="0"/>
                <a:ea typeface="Cambria" pitchFamily="34" charset="-122"/>
                <a:cs typeface="Cambria" pitchFamily="34" charset="-120"/>
              </a:rPr>
              <a:t>Rs 94 cr</a:t>
            </a:r>
            <a:endParaRPr lang="en-US" sz="3000" dirty="0"/>
          </a:p>
        </p:txBody>
      </p:sp>
      <p:sp>
        <p:nvSpPr>
          <p:cNvPr id="21" name="Text 19"/>
          <p:cNvSpPr txBox="1"/>
          <p:nvPr/>
        </p:nvSpPr>
        <p:spPr>
          <a:xfrm>
            <a:off x="3337560" y="3246120"/>
            <a:ext cx="2286000" cy="320040"/>
          </a:xfrm>
          <a:prstGeom prst="rect">
            <a:avLst/>
          </a:prstGeom>
          <a:noFill/>
          <a:ln/>
        </p:spPr>
        <p:txBody>
          <a:bodyPr wrap="square" lIns="0" tIns="0" rIns="0" bIns="0" rtlCol="0" anchor="ctr"/>
          <a:lstStyle/>
          <a:p>
            <a:pPr indent="0" marL="0">
              <a:buNone/>
            </a:pPr>
            <a:r>
              <a:rPr lang="en-US" sz="1200" dirty="0">
                <a:solidFill>
                  <a:srgbClr val="7A6A60"/>
                </a:solidFill>
              </a:rPr>
              <a:t>loss on Rs 285 cr revenue</a:t>
            </a:r>
            <a:endParaRPr lang="en-US" sz="1200" dirty="0"/>
          </a:p>
        </p:txBody>
      </p:sp>
      <p:sp>
        <p:nvSpPr>
          <p:cNvPr id="22" name="Text 20"/>
          <p:cNvSpPr txBox="1"/>
          <p:nvPr/>
        </p:nvSpPr>
        <p:spPr>
          <a:xfrm>
            <a:off x="3337560" y="3657600"/>
            <a:ext cx="2286000" cy="548640"/>
          </a:xfrm>
          <a:prstGeom prst="rect">
            <a:avLst/>
          </a:prstGeom>
          <a:noFill/>
          <a:ln/>
        </p:spPr>
        <p:txBody>
          <a:bodyPr wrap="square" lIns="0" tIns="0" rIns="0" bIns="0" rtlCol="0" anchor="t"/>
          <a:lstStyle/>
          <a:p>
            <a:pPr indent="0" marL="0">
              <a:buNone/>
            </a:pPr>
            <a:r>
              <a:rPr lang="en-US" sz="1250" b="1" dirty="0">
                <a:solidFill>
                  <a:srgbClr val="2B1B12"/>
                </a:solidFill>
              </a:rPr>
              <a:t>New CEO; store by store, not more stores</a:t>
            </a:r>
            <a:endParaRPr lang="en-US" sz="1250" dirty="0"/>
          </a:p>
        </p:txBody>
      </p:sp>
      <p:sp>
        <p:nvSpPr>
          <p:cNvPr id="23" name="phase-dot-3"/>
          <p:cNvSpPr/>
          <p:nvPr/>
        </p:nvSpPr>
        <p:spPr>
          <a:xfrm>
            <a:off x="6583680" y="2148840"/>
            <a:ext cx="365760" cy="365760"/>
          </a:xfrm>
          <a:prstGeom prst="ellipse">
            <a:avLst/>
          </a:prstGeom>
          <a:solidFill>
            <a:srgbClr val="5E8C61"/>
          </a:solidFill>
          <a:ln w="12700">
            <a:solidFill>
              <a:srgbClr val="5E8C61"/>
            </a:solidFill>
            <a:prstDash val="solid"/>
          </a:ln>
        </p:spPr>
      </p:sp>
      <p:sp>
        <p:nvSpPr>
          <p:cNvPr id="24" name="Text 22"/>
          <p:cNvSpPr txBox="1"/>
          <p:nvPr/>
        </p:nvSpPr>
        <p:spPr>
          <a:xfrm>
            <a:off x="6217920" y="1600200"/>
            <a:ext cx="2560320" cy="274320"/>
          </a:xfrm>
          <a:prstGeom prst="rect">
            <a:avLst/>
          </a:prstGeom>
          <a:noFill/>
          <a:ln/>
        </p:spPr>
        <p:txBody>
          <a:bodyPr wrap="square" lIns="0" tIns="0" rIns="0" bIns="0" rtlCol="0" anchor="ctr"/>
          <a:lstStyle/>
          <a:p>
            <a:pPr indent="0" marL="0">
              <a:buNone/>
            </a:pPr>
            <a:r>
              <a:rPr lang="en-US" sz="1000" b="1" spc="100" kern="0" dirty="0">
                <a:solidFill>
                  <a:srgbClr val="5E8C61"/>
                </a:solidFill>
              </a:rPr>
              <a:t>GROW AGAIN · FY26</a:t>
            </a:r>
            <a:endParaRPr lang="en-US" sz="1000" dirty="0"/>
          </a:p>
        </p:txBody>
      </p:sp>
      <p:sp>
        <p:nvSpPr>
          <p:cNvPr id="25" name="Text 23"/>
          <p:cNvSpPr txBox="1"/>
          <p:nvPr/>
        </p:nvSpPr>
        <p:spPr>
          <a:xfrm>
            <a:off x="6217920" y="2697480"/>
            <a:ext cx="2377440" cy="548640"/>
          </a:xfrm>
          <a:prstGeom prst="rect">
            <a:avLst/>
          </a:prstGeom>
          <a:noFill/>
          <a:ln/>
        </p:spPr>
        <p:txBody>
          <a:bodyPr wrap="square" lIns="0" tIns="0" rIns="0" bIns="0" rtlCol="0" anchor="ctr"/>
          <a:lstStyle/>
          <a:p>
            <a:pPr indent="0" marL="0">
              <a:buNone/>
            </a:pPr>
            <a:r>
              <a:rPr lang="en-US" sz="3000" b="1" dirty="0">
                <a:solidFill>
                  <a:srgbClr val="5E8C61"/>
                </a:solidFill>
                <a:latin typeface="Cambria" pitchFamily="34" charset="0"/>
                <a:ea typeface="Cambria" pitchFamily="34" charset="-122"/>
                <a:cs typeface="Cambria" pitchFamily="34" charset="-120"/>
              </a:rPr>
              <a:t>90%+</a:t>
            </a:r>
            <a:endParaRPr lang="en-US" sz="3000" dirty="0"/>
          </a:p>
        </p:txBody>
      </p:sp>
      <p:sp>
        <p:nvSpPr>
          <p:cNvPr id="26" name="Text 24"/>
          <p:cNvSpPr txBox="1"/>
          <p:nvPr/>
        </p:nvSpPr>
        <p:spPr>
          <a:xfrm>
            <a:off x="6217920" y="3246120"/>
            <a:ext cx="2286000" cy="320040"/>
          </a:xfrm>
          <a:prstGeom prst="rect">
            <a:avLst/>
          </a:prstGeom>
          <a:noFill/>
          <a:ln/>
        </p:spPr>
        <p:txBody>
          <a:bodyPr wrap="square" lIns="0" tIns="0" rIns="0" bIns="0" rtlCol="0" anchor="ctr"/>
          <a:lstStyle/>
          <a:p>
            <a:pPr indent="0" marL="0">
              <a:buNone/>
            </a:pPr>
            <a:r>
              <a:rPr lang="en-US" sz="1200" dirty="0">
                <a:solidFill>
                  <a:srgbClr val="7A6A60"/>
                </a:solidFill>
              </a:rPr>
              <a:t>of stores EBITDA positive</a:t>
            </a:r>
            <a:endParaRPr lang="en-US" sz="1200" dirty="0"/>
          </a:p>
        </p:txBody>
      </p:sp>
      <p:sp>
        <p:nvSpPr>
          <p:cNvPr id="27" name="Text 25"/>
          <p:cNvSpPr txBox="1"/>
          <p:nvPr/>
        </p:nvSpPr>
        <p:spPr>
          <a:xfrm>
            <a:off x="6217920" y="3657600"/>
            <a:ext cx="2286000" cy="548640"/>
          </a:xfrm>
          <a:prstGeom prst="rect">
            <a:avLst/>
          </a:prstGeom>
          <a:noFill/>
          <a:ln/>
        </p:spPr>
        <p:txBody>
          <a:bodyPr wrap="square" lIns="0" tIns="0" rIns="0" bIns="0" rtlCol="0" anchor="t"/>
          <a:lstStyle/>
          <a:p>
            <a:pPr indent="0" marL="0">
              <a:buNone/>
            </a:pPr>
            <a:r>
              <a:rPr lang="en-US" sz="1250" b="1" dirty="0">
                <a:solidFill>
                  <a:srgbClr val="2B1B12"/>
                </a:solidFill>
              </a:rPr>
              <a:t>250th cafe opens, in Lucknow</a:t>
            </a:r>
            <a:endParaRPr lang="en-US" sz="125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When growth outruns the store, the store loses</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3 · WHO FELL IN</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D9822B"/>
          </a:solidFill>
          <a:ln w="6350">
            <a:solidFill>
              <a:srgbClr val="D9822B"/>
            </a:solidFill>
            <a:prstDash val="solid"/>
          </a:ln>
        </p:spPr>
      </p:sp>
      <p:sp>
        <p:nvSpPr>
          <p:cNvPr id="7" name="progress-4"/>
          <p:cNvSpPr/>
          <p:nvPr/>
        </p:nvSpPr>
        <p:spPr>
          <a:xfrm>
            <a:off x="8476488" y="283464"/>
            <a:ext cx="118872" cy="118872"/>
          </a:xfrm>
          <a:prstGeom prst="ellipse">
            <a:avLst/>
          </a:prstGeom>
          <a:solidFill>
            <a:srgbClr val="E4D9CF"/>
          </a:solidFill>
          <a:ln w="6350">
            <a:solidFill>
              <a:srgbClr val="E4D9CF"/>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Growth risk: every new outlet copies whatever the first one does, including its losses.</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Financial Express via Third Eyesight 2023 (CCD); Outlook Business 2025 (Tata Starbucks).</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The small version of this: the hype cafe.</a:t>
            </a:r>
            <a:endParaRPr lang="en-US" sz="1100" dirty="0"/>
          </a:p>
        </p:txBody>
      </p:sp>
      <p:graphicFrame>
        <p:nvGraphicFramePr>
          <p:cNvPr id="12" name="Chart 0" descr=""/>
          <p:cNvGraphicFramePr/>
          <p:nvPr/>
        </p:nvGraphicFramePr>
        <p:xfrm>
          <a:off x="365760" y="1463040"/>
          <a:ext cx="3931920" cy="3063240"/>
        </p:xfrm>
        <a:graphic xmlns:a="http://schemas.openxmlformats.org/drawingml/2006/main">
          <a:graphicData uri="http://schemas.openxmlformats.org/drawingml/2006/chart">
            <c:chart xmlns:c="http://schemas.openxmlformats.org/drawingml/2006/chart" r:id="rId1"/>
          </a:graphicData>
        </a:graphic>
      </p:graphicFrame>
      <p:sp>
        <p:nvSpPr>
          <p:cNvPr id="13" name="sbux-card"/>
          <p:cNvSpPr/>
          <p:nvPr/>
        </p:nvSpPr>
        <p:spPr>
          <a:xfrm>
            <a:off x="4754880" y="1554480"/>
            <a:ext cx="3931920" cy="2880360"/>
          </a:xfrm>
          <a:prstGeom prst="roundRect">
            <a:avLst>
              <a:gd name="adj" fmla="val 3175"/>
            </a:avLst>
          </a:prstGeom>
          <a:solidFill>
            <a:srgbClr val="F6F1EC"/>
          </a:solidFill>
          <a:ln w="12700">
            <a:solidFill>
              <a:srgbClr val="F6F1EC"/>
            </a:solidFill>
            <a:prstDash val="solid"/>
          </a:ln>
        </p:spPr>
      </p:sp>
      <p:sp>
        <p:nvSpPr>
          <p:cNvPr id="14" name="Text 11"/>
          <p:cNvSpPr txBox="1"/>
          <p:nvPr/>
        </p:nvSpPr>
        <p:spPr>
          <a:xfrm>
            <a:off x="4983480" y="1737360"/>
            <a:ext cx="3474720" cy="228600"/>
          </a:xfrm>
          <a:prstGeom prst="rect">
            <a:avLst/>
          </a:prstGeom>
          <a:noFill/>
          <a:ln/>
        </p:spPr>
        <p:txBody>
          <a:bodyPr wrap="square" lIns="0" tIns="0" rIns="0" bIns="0" rtlCol="0" anchor="ctr"/>
          <a:lstStyle/>
          <a:p>
            <a:pPr indent="0" marL="0">
              <a:buNone/>
            </a:pPr>
            <a:r>
              <a:rPr lang="en-US" sz="1000" b="1" spc="200" kern="0" dirty="0">
                <a:solidFill>
                  <a:srgbClr val="D9822B"/>
                </a:solidFill>
              </a:rPr>
              <a:t>TATA STARBUCKS · FY25</a:t>
            </a:r>
            <a:endParaRPr lang="en-US" sz="1000" dirty="0"/>
          </a:p>
        </p:txBody>
      </p:sp>
      <p:sp>
        <p:nvSpPr>
          <p:cNvPr id="15" name="Text 12"/>
          <p:cNvSpPr txBox="1"/>
          <p:nvPr/>
        </p:nvSpPr>
        <p:spPr>
          <a:xfrm>
            <a:off x="4983480" y="2148840"/>
            <a:ext cx="822960" cy="411480"/>
          </a:xfrm>
          <a:prstGeom prst="rect">
            <a:avLst/>
          </a:prstGeom>
          <a:noFill/>
          <a:ln/>
        </p:spPr>
        <p:txBody>
          <a:bodyPr wrap="square" lIns="0" tIns="0" rIns="0" bIns="0" rtlCol="0" anchor="ctr"/>
          <a:lstStyle/>
          <a:p>
            <a:pPr indent="0" marL="0">
              <a:buNone/>
            </a:pPr>
            <a:r>
              <a:rPr lang="en-US" sz="1200" b="1" dirty="0">
                <a:solidFill>
                  <a:srgbClr val="2B1B12"/>
                </a:solidFill>
              </a:rPr>
              <a:t>Revenue</a:t>
            </a:r>
            <a:endParaRPr lang="en-US" sz="1200" dirty="0"/>
          </a:p>
        </p:txBody>
      </p:sp>
      <p:sp>
        <p:nvSpPr>
          <p:cNvPr id="16" name="sbux-bar-1"/>
          <p:cNvSpPr/>
          <p:nvPr/>
        </p:nvSpPr>
        <p:spPr>
          <a:xfrm>
            <a:off x="5806440" y="2221992"/>
            <a:ext cx="189914" cy="274320"/>
          </a:xfrm>
          <a:prstGeom prst="rect">
            <a:avLst/>
          </a:prstGeom>
          <a:solidFill>
            <a:srgbClr val="5E8C61"/>
          </a:solidFill>
          <a:ln w="12700">
            <a:solidFill>
              <a:srgbClr val="5E8C61"/>
            </a:solidFill>
            <a:prstDash val="solid"/>
          </a:ln>
        </p:spPr>
      </p:sp>
      <p:sp>
        <p:nvSpPr>
          <p:cNvPr id="17" name="Text 14"/>
          <p:cNvSpPr txBox="1"/>
          <p:nvPr/>
        </p:nvSpPr>
        <p:spPr>
          <a:xfrm>
            <a:off x="5806440" y="2532888"/>
            <a:ext cx="2651760" cy="274320"/>
          </a:xfrm>
          <a:prstGeom prst="rect">
            <a:avLst/>
          </a:prstGeom>
          <a:noFill/>
          <a:ln/>
        </p:spPr>
        <p:txBody>
          <a:bodyPr wrap="square" lIns="0" tIns="0" rIns="0" bIns="0" rtlCol="0" anchor="ctr"/>
          <a:lstStyle/>
          <a:p>
            <a:pPr indent="0" marL="0">
              <a:buNone/>
            </a:pPr>
            <a:r>
              <a:rPr lang="en-US" sz="1100" dirty="0">
                <a:solidFill>
                  <a:srgbClr val="7A6A60"/>
                </a:solidFill>
              </a:rPr>
              <a:t>+5% to Rs 1,277 cr</a:t>
            </a:r>
            <a:endParaRPr lang="en-US" sz="1100" dirty="0"/>
          </a:p>
        </p:txBody>
      </p:sp>
      <p:sp>
        <p:nvSpPr>
          <p:cNvPr id="18" name="Text 15"/>
          <p:cNvSpPr txBox="1"/>
          <p:nvPr/>
        </p:nvSpPr>
        <p:spPr>
          <a:xfrm>
            <a:off x="4983480" y="2926080"/>
            <a:ext cx="822960" cy="411480"/>
          </a:xfrm>
          <a:prstGeom prst="rect">
            <a:avLst/>
          </a:prstGeom>
          <a:noFill/>
          <a:ln/>
        </p:spPr>
        <p:txBody>
          <a:bodyPr wrap="square" lIns="0" tIns="0" rIns="0" bIns="0" rtlCol="0" anchor="ctr"/>
          <a:lstStyle/>
          <a:p>
            <a:pPr indent="0" marL="0">
              <a:buNone/>
            </a:pPr>
            <a:r>
              <a:rPr lang="en-US" sz="1200" b="1" dirty="0">
                <a:solidFill>
                  <a:srgbClr val="2B1B12"/>
                </a:solidFill>
              </a:rPr>
              <a:t>Loss</a:t>
            </a:r>
            <a:endParaRPr lang="en-US" sz="1200" dirty="0"/>
          </a:p>
        </p:txBody>
      </p:sp>
      <p:sp>
        <p:nvSpPr>
          <p:cNvPr id="19" name="sbux-bar-2"/>
          <p:cNvSpPr/>
          <p:nvPr/>
        </p:nvSpPr>
        <p:spPr>
          <a:xfrm>
            <a:off x="5806440" y="2999232"/>
            <a:ext cx="2468880" cy="274320"/>
          </a:xfrm>
          <a:prstGeom prst="rect">
            <a:avLst/>
          </a:prstGeom>
          <a:solidFill>
            <a:srgbClr val="B5452F"/>
          </a:solidFill>
          <a:ln w="12700">
            <a:solidFill>
              <a:srgbClr val="B5452F"/>
            </a:solidFill>
            <a:prstDash val="solid"/>
          </a:ln>
        </p:spPr>
      </p:sp>
      <p:sp>
        <p:nvSpPr>
          <p:cNvPr id="20" name="Text 17"/>
          <p:cNvSpPr txBox="1"/>
          <p:nvPr/>
        </p:nvSpPr>
        <p:spPr>
          <a:xfrm>
            <a:off x="5806440" y="3310128"/>
            <a:ext cx="2651760" cy="274320"/>
          </a:xfrm>
          <a:prstGeom prst="rect">
            <a:avLst/>
          </a:prstGeom>
          <a:noFill/>
          <a:ln/>
        </p:spPr>
        <p:txBody>
          <a:bodyPr wrap="square" lIns="0" tIns="0" rIns="0" bIns="0" rtlCol="0" anchor="ctr"/>
          <a:lstStyle/>
          <a:p>
            <a:pPr indent="0" marL="0">
              <a:buNone/>
            </a:pPr>
            <a:r>
              <a:rPr lang="en-US" sz="1100" dirty="0">
                <a:solidFill>
                  <a:srgbClr val="7A6A60"/>
                </a:solidFill>
              </a:rPr>
              <a:t>+65% to Rs 135.7 cr</a:t>
            </a:r>
            <a:endParaRPr lang="en-US" sz="1100" dirty="0"/>
          </a:p>
        </p:txBody>
      </p:sp>
      <p:sp>
        <p:nvSpPr>
          <p:cNvPr id="21" name="Text 18"/>
          <p:cNvSpPr txBox="1"/>
          <p:nvPr/>
        </p:nvSpPr>
        <p:spPr>
          <a:xfrm>
            <a:off x="4983480" y="3703320"/>
            <a:ext cx="3474720" cy="594360"/>
          </a:xfrm>
          <a:prstGeom prst="rect">
            <a:avLst/>
          </a:prstGeom>
          <a:noFill/>
          <a:ln/>
        </p:spPr>
        <p:txBody>
          <a:bodyPr wrap="square" lIns="0" tIns="0" rIns="0" bIns="0" rtlCol="0" anchor="t"/>
          <a:lstStyle/>
          <a:p>
            <a:pPr indent="0" marL="0">
              <a:buNone/>
            </a:pPr>
            <a:r>
              <a:rPr lang="en-US" sz="1250" b="1" dirty="0">
                <a:solidFill>
                  <a:srgbClr val="2B1B12"/>
                </a:solidFill>
              </a:rPr>
              <a:t>Tata has asked for smaller, cheaper stores before it puts in more capital.</a:t>
            </a:r>
            <a:endParaRPr lang="en-US" sz="125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Same opening weekend, different month six</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3 · WHO FELL IN</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D9822B"/>
          </a:solidFill>
          <a:ln w="6350">
            <a:solidFill>
              <a:srgbClr val="D9822B"/>
            </a:solidFill>
            <a:prstDash val="solid"/>
          </a:ln>
        </p:spPr>
      </p:sp>
      <p:sp>
        <p:nvSpPr>
          <p:cNvPr id="7" name="progress-4"/>
          <p:cNvSpPr/>
          <p:nvPr/>
        </p:nvSpPr>
        <p:spPr>
          <a:xfrm>
            <a:off x="8476488" y="283464"/>
            <a:ext cx="118872" cy="118872"/>
          </a:xfrm>
          <a:prstGeom prst="ellipse">
            <a:avLst/>
          </a:prstGeom>
          <a:solidFill>
            <a:srgbClr val="E4D9CF"/>
          </a:solidFill>
          <a:ln w="6350">
            <a:solidFill>
              <a:srgbClr val="E4D9CF"/>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Hype-led vs habit-led: one cafe spends on the first visit, the other on the second.</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ThePrint 2024 (Noida closures); Bloom Intelligence (return rates); Restaurant India 2026 (20% rent rule).</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Where the rent is lighter, the maths changes.</a:t>
            </a:r>
            <a:endParaRPr lang="en-US" sz="1100" dirty="0"/>
          </a:p>
        </p:txBody>
      </p:sp>
      <p:sp>
        <p:nvSpPr>
          <p:cNvPr id="12" name="hype-icon"/>
          <p:cNvSpPr/>
          <p:nvPr/>
        </p:nvSpPr>
        <p:spPr>
          <a:xfrm>
            <a:off x="2743200" y="1481328"/>
            <a:ext cx="411480" cy="411480"/>
          </a:xfrm>
          <a:prstGeom prst="ellipse">
            <a:avLst/>
          </a:prstGeom>
          <a:solidFill>
            <a:srgbClr val="B5452F"/>
          </a:solidFill>
          <a:ln w="12700">
            <a:solidFill>
              <a:srgbClr val="B5452F"/>
            </a:solidFill>
            <a:prstDash val="solid"/>
          </a:ln>
        </p:spPr>
      </p:sp>
      <p:pic>
        <p:nvPicPr>
          <p:cNvPr id="13" name="Image 0" descr="preencoded.png">    </p:cNvPr>
          <p:cNvPicPr>
            <a:picLocks noChangeAspect="1"/>
          </p:cNvPicPr>
          <p:nvPr/>
        </p:nvPicPr>
        <p:blipFill>
          <a:blip r:embed="rId1"/>
          <a:stretch>
            <a:fillRect/>
          </a:stretch>
        </p:blipFill>
        <p:spPr>
          <a:xfrm>
            <a:off x="2846070" y="1584198"/>
            <a:ext cx="205740" cy="205740"/>
          </a:xfrm>
          <a:prstGeom prst="rect">
            <a:avLst/>
          </a:prstGeom>
        </p:spPr>
      </p:pic>
      <p:sp>
        <p:nvSpPr>
          <p:cNvPr id="14" name="Text 11"/>
          <p:cNvSpPr txBox="1"/>
          <p:nvPr/>
        </p:nvSpPr>
        <p:spPr>
          <a:xfrm>
            <a:off x="3246120" y="1481328"/>
            <a:ext cx="2194560" cy="411480"/>
          </a:xfrm>
          <a:prstGeom prst="rect">
            <a:avLst/>
          </a:prstGeom>
          <a:noFill/>
          <a:ln/>
        </p:spPr>
        <p:txBody>
          <a:bodyPr wrap="square" lIns="0" tIns="0" rIns="0" bIns="0" rtlCol="0" anchor="ctr"/>
          <a:lstStyle/>
          <a:p>
            <a:pPr indent="0" marL="0">
              <a:buNone/>
            </a:pPr>
            <a:r>
              <a:rPr lang="en-US" sz="1600" b="1" dirty="0">
                <a:solidFill>
                  <a:srgbClr val="B5452F"/>
                </a:solidFill>
                <a:latin typeface="Cambria" pitchFamily="34" charset="0"/>
                <a:ea typeface="Cambria" pitchFamily="34" charset="-122"/>
                <a:cs typeface="Cambria" pitchFamily="34" charset="-120"/>
              </a:rPr>
              <a:t>Hype-led</a:t>
            </a:r>
            <a:endParaRPr lang="en-US" sz="1600" dirty="0"/>
          </a:p>
        </p:txBody>
      </p:sp>
      <p:sp>
        <p:nvSpPr>
          <p:cNvPr id="15" name="habit-icon"/>
          <p:cNvSpPr/>
          <p:nvPr/>
        </p:nvSpPr>
        <p:spPr>
          <a:xfrm>
            <a:off x="5760720" y="1481328"/>
            <a:ext cx="411480" cy="411480"/>
          </a:xfrm>
          <a:prstGeom prst="ellipse">
            <a:avLst/>
          </a:prstGeom>
          <a:solidFill>
            <a:srgbClr val="5E8C61"/>
          </a:solidFill>
          <a:ln w="12700">
            <a:solidFill>
              <a:srgbClr val="5E8C61"/>
            </a:solidFill>
            <a:prstDash val="solid"/>
          </a:ln>
        </p:spPr>
      </p:sp>
      <p:pic>
        <p:nvPicPr>
          <p:cNvPr id="16" name="Image 1" descr="preencoded.png">    </p:cNvPr>
          <p:cNvPicPr>
            <a:picLocks noChangeAspect="1"/>
          </p:cNvPicPr>
          <p:nvPr/>
        </p:nvPicPr>
        <p:blipFill>
          <a:blip r:embed="rId2"/>
          <a:stretch>
            <a:fillRect/>
          </a:stretch>
        </p:blipFill>
        <p:spPr>
          <a:xfrm>
            <a:off x="5863590" y="1584198"/>
            <a:ext cx="205740" cy="205740"/>
          </a:xfrm>
          <a:prstGeom prst="rect">
            <a:avLst/>
          </a:prstGeom>
        </p:spPr>
      </p:pic>
      <p:sp>
        <p:nvSpPr>
          <p:cNvPr id="17" name="Text 13"/>
          <p:cNvSpPr txBox="1"/>
          <p:nvPr/>
        </p:nvSpPr>
        <p:spPr>
          <a:xfrm>
            <a:off x="6263640" y="1481328"/>
            <a:ext cx="2194560" cy="411480"/>
          </a:xfrm>
          <a:prstGeom prst="rect">
            <a:avLst/>
          </a:prstGeom>
          <a:noFill/>
          <a:ln/>
        </p:spPr>
        <p:txBody>
          <a:bodyPr wrap="square" lIns="0" tIns="0" rIns="0" bIns="0" rtlCol="0" anchor="ctr"/>
          <a:lstStyle/>
          <a:p>
            <a:pPr indent="0" marL="0">
              <a:buNone/>
            </a:pPr>
            <a:r>
              <a:rPr lang="en-US" sz="1600" b="1" dirty="0">
                <a:solidFill>
                  <a:srgbClr val="5E8C61"/>
                </a:solidFill>
                <a:latin typeface="Cambria" pitchFamily="34" charset="0"/>
                <a:ea typeface="Cambria" pitchFamily="34" charset="-122"/>
                <a:cs typeface="Cambria" pitchFamily="34" charset="-120"/>
              </a:rPr>
              <a:t>Habit-led</a:t>
            </a:r>
            <a:endParaRPr lang="en-US" sz="1600" dirty="0"/>
          </a:p>
        </p:txBody>
      </p:sp>
      <p:sp>
        <p:nvSpPr>
          <p:cNvPr id="18" name="Text 14"/>
          <p:cNvSpPr txBox="1"/>
          <p:nvPr/>
        </p:nvSpPr>
        <p:spPr>
          <a:xfrm>
            <a:off x="457200" y="2029968"/>
            <a:ext cx="2194560" cy="411480"/>
          </a:xfrm>
          <a:prstGeom prst="rect">
            <a:avLst/>
          </a:prstGeom>
          <a:noFill/>
          <a:ln/>
        </p:spPr>
        <p:txBody>
          <a:bodyPr wrap="square" lIns="0" tIns="0" rIns="0" bIns="0" rtlCol="0" anchor="ctr"/>
          <a:lstStyle/>
          <a:p>
            <a:pPr indent="0" marL="0">
              <a:buNone/>
            </a:pPr>
            <a:r>
              <a:rPr lang="en-US" sz="1200" b="1" dirty="0">
                <a:solidFill>
                  <a:srgbClr val="7A6A60"/>
                </a:solidFill>
              </a:rPr>
              <a:t>Money goes first to</a:t>
            </a:r>
            <a:endParaRPr lang="en-US" sz="1200" dirty="0"/>
          </a:p>
        </p:txBody>
      </p:sp>
      <p:sp>
        <p:nvSpPr>
          <p:cNvPr id="19" name="Text 15"/>
          <p:cNvSpPr txBox="1"/>
          <p:nvPr/>
        </p:nvSpPr>
        <p:spPr>
          <a:xfrm>
            <a:off x="2743200" y="2029968"/>
            <a:ext cx="2834640" cy="411480"/>
          </a:xfrm>
          <a:prstGeom prst="rect">
            <a:avLst/>
          </a:prstGeom>
          <a:noFill/>
          <a:ln/>
        </p:spPr>
        <p:txBody>
          <a:bodyPr wrap="square" lIns="0" tIns="0" rIns="0" bIns="0" rtlCol="0" anchor="ctr"/>
          <a:lstStyle/>
          <a:p>
            <a:pPr indent="0" marL="0">
              <a:buNone/>
            </a:pPr>
            <a:r>
              <a:rPr lang="en-US" sz="1250" dirty="0">
                <a:solidFill>
                  <a:srgbClr val="2B1B12"/>
                </a:solidFill>
              </a:rPr>
              <a:t>Interiors and launch reels</a:t>
            </a:r>
            <a:endParaRPr lang="en-US" sz="1250" dirty="0"/>
          </a:p>
        </p:txBody>
      </p:sp>
      <p:sp>
        <p:nvSpPr>
          <p:cNvPr id="20" name="Text 16"/>
          <p:cNvSpPr txBox="1"/>
          <p:nvPr/>
        </p:nvSpPr>
        <p:spPr>
          <a:xfrm>
            <a:off x="5760720" y="2029968"/>
            <a:ext cx="2926080" cy="411480"/>
          </a:xfrm>
          <a:prstGeom prst="rect">
            <a:avLst/>
          </a:prstGeom>
          <a:noFill/>
          <a:ln/>
        </p:spPr>
        <p:txBody>
          <a:bodyPr wrap="square" lIns="0" tIns="0" rIns="0" bIns="0" rtlCol="0" anchor="ctr"/>
          <a:lstStyle/>
          <a:p>
            <a:pPr indent="0" marL="0">
              <a:buNone/>
            </a:pPr>
            <a:r>
              <a:rPr lang="en-US" sz="1250" dirty="0">
                <a:solidFill>
                  <a:srgbClr val="2B1B12"/>
                </a:solidFill>
              </a:rPr>
              <a:t>Coffee, staff, capturing each visit</a:t>
            </a:r>
            <a:endParaRPr lang="en-US" sz="1250" dirty="0"/>
          </a:p>
        </p:txBody>
      </p:sp>
      <p:sp>
        <p:nvSpPr>
          <p:cNvPr id="21" name="Shape 17"/>
          <p:cNvSpPr/>
          <p:nvPr/>
        </p:nvSpPr>
        <p:spPr>
          <a:xfrm>
            <a:off x="457200" y="2487168"/>
            <a:ext cx="8229600" cy="0"/>
          </a:xfrm>
          <a:prstGeom prst="line">
            <a:avLst/>
          </a:prstGeom>
          <a:noFill/>
          <a:ln w="9525">
            <a:solidFill>
              <a:srgbClr val="E4D9CF"/>
            </a:solidFill>
            <a:prstDash val="solid"/>
          </a:ln>
        </p:spPr>
      </p:sp>
      <p:sp>
        <p:nvSpPr>
          <p:cNvPr id="22" name="Text 18"/>
          <p:cNvSpPr txBox="1"/>
          <p:nvPr/>
        </p:nvSpPr>
        <p:spPr>
          <a:xfrm>
            <a:off x="457200" y="2532888"/>
            <a:ext cx="2194560" cy="411480"/>
          </a:xfrm>
          <a:prstGeom prst="rect">
            <a:avLst/>
          </a:prstGeom>
          <a:noFill/>
          <a:ln/>
        </p:spPr>
        <p:txBody>
          <a:bodyPr wrap="square" lIns="0" tIns="0" rIns="0" bIns="0" rtlCol="0" anchor="ctr"/>
          <a:lstStyle/>
          <a:p>
            <a:pPr indent="0" marL="0">
              <a:buNone/>
            </a:pPr>
            <a:r>
              <a:rPr lang="en-US" sz="1200" b="1" dirty="0">
                <a:solidFill>
                  <a:srgbClr val="7A6A60"/>
                </a:solidFill>
              </a:rPr>
              <a:t>Location</a:t>
            </a:r>
            <a:endParaRPr lang="en-US" sz="1200" dirty="0"/>
          </a:p>
        </p:txBody>
      </p:sp>
      <p:sp>
        <p:nvSpPr>
          <p:cNvPr id="23" name="Text 19"/>
          <p:cNvSpPr txBox="1"/>
          <p:nvPr/>
        </p:nvSpPr>
        <p:spPr>
          <a:xfrm>
            <a:off x="2743200" y="2532888"/>
            <a:ext cx="2834640" cy="411480"/>
          </a:xfrm>
          <a:prstGeom prst="rect">
            <a:avLst/>
          </a:prstGeom>
          <a:noFill/>
          <a:ln/>
        </p:spPr>
        <p:txBody>
          <a:bodyPr wrap="square" lIns="0" tIns="0" rIns="0" bIns="0" rtlCol="0" anchor="ctr"/>
          <a:lstStyle/>
          <a:p>
            <a:pPr indent="0" marL="0">
              <a:buNone/>
            </a:pPr>
            <a:r>
              <a:rPr lang="en-US" sz="1250" dirty="0">
                <a:solidFill>
                  <a:srgbClr val="2B1B12"/>
                </a:solidFill>
              </a:rPr>
              <a:t>The famous street</a:t>
            </a:r>
            <a:endParaRPr lang="en-US" sz="1250" dirty="0"/>
          </a:p>
        </p:txBody>
      </p:sp>
      <p:sp>
        <p:nvSpPr>
          <p:cNvPr id="24" name="Text 20"/>
          <p:cNvSpPr txBox="1"/>
          <p:nvPr/>
        </p:nvSpPr>
        <p:spPr>
          <a:xfrm>
            <a:off x="5760720" y="2532888"/>
            <a:ext cx="2926080" cy="411480"/>
          </a:xfrm>
          <a:prstGeom prst="rect">
            <a:avLst/>
          </a:prstGeom>
          <a:noFill/>
          <a:ln/>
        </p:spPr>
        <p:txBody>
          <a:bodyPr wrap="square" lIns="0" tIns="0" rIns="0" bIns="0" rtlCol="0" anchor="ctr"/>
          <a:lstStyle/>
          <a:p>
            <a:pPr indent="0" marL="0">
              <a:buNone/>
            </a:pPr>
            <a:r>
              <a:rPr lang="en-US" sz="1250" dirty="0">
                <a:solidFill>
                  <a:srgbClr val="2B1B12"/>
                </a:solidFill>
              </a:rPr>
              <a:t>The street revenue can carry</a:t>
            </a:r>
            <a:endParaRPr lang="en-US" sz="1250" dirty="0"/>
          </a:p>
        </p:txBody>
      </p:sp>
      <p:sp>
        <p:nvSpPr>
          <p:cNvPr id="25" name="Shape 21"/>
          <p:cNvSpPr/>
          <p:nvPr/>
        </p:nvSpPr>
        <p:spPr>
          <a:xfrm>
            <a:off x="457200" y="2990088"/>
            <a:ext cx="8229600" cy="0"/>
          </a:xfrm>
          <a:prstGeom prst="line">
            <a:avLst/>
          </a:prstGeom>
          <a:noFill/>
          <a:ln w="9525">
            <a:solidFill>
              <a:srgbClr val="E4D9CF"/>
            </a:solidFill>
            <a:prstDash val="solid"/>
          </a:ln>
        </p:spPr>
      </p:sp>
      <p:sp>
        <p:nvSpPr>
          <p:cNvPr id="26" name="Text 22"/>
          <p:cNvSpPr txBox="1"/>
          <p:nvPr/>
        </p:nvSpPr>
        <p:spPr>
          <a:xfrm>
            <a:off x="457200" y="3035808"/>
            <a:ext cx="2194560" cy="411480"/>
          </a:xfrm>
          <a:prstGeom prst="rect">
            <a:avLst/>
          </a:prstGeom>
          <a:noFill/>
          <a:ln/>
        </p:spPr>
        <p:txBody>
          <a:bodyPr wrap="square" lIns="0" tIns="0" rIns="0" bIns="0" rtlCol="0" anchor="ctr"/>
          <a:lstStyle/>
          <a:p>
            <a:pPr indent="0" marL="0">
              <a:buNone/>
            </a:pPr>
            <a:r>
              <a:rPr lang="en-US" sz="1200" b="1" dirty="0">
                <a:solidFill>
                  <a:srgbClr val="7A6A60"/>
                </a:solidFill>
              </a:rPr>
              <a:t>Menu</a:t>
            </a:r>
            <a:endParaRPr lang="en-US" sz="1200" dirty="0"/>
          </a:p>
        </p:txBody>
      </p:sp>
      <p:sp>
        <p:nvSpPr>
          <p:cNvPr id="27" name="Text 23"/>
          <p:cNvSpPr txBox="1"/>
          <p:nvPr/>
        </p:nvSpPr>
        <p:spPr>
          <a:xfrm>
            <a:off x="2743200" y="3035808"/>
            <a:ext cx="2834640" cy="411480"/>
          </a:xfrm>
          <a:prstGeom prst="rect">
            <a:avLst/>
          </a:prstGeom>
          <a:noFill/>
          <a:ln/>
        </p:spPr>
        <p:txBody>
          <a:bodyPr wrap="square" lIns="0" tIns="0" rIns="0" bIns="0" rtlCol="0" anchor="ctr"/>
          <a:lstStyle/>
          <a:p>
            <a:pPr indent="0" marL="0">
              <a:buNone/>
            </a:pPr>
            <a:r>
              <a:rPr lang="en-US" sz="1250" dirty="0">
                <a:solidFill>
                  <a:srgbClr val="2B1B12"/>
                </a:solidFill>
              </a:rPr>
              <a:t>Large, built for photos</a:t>
            </a:r>
            <a:endParaRPr lang="en-US" sz="1250" dirty="0"/>
          </a:p>
        </p:txBody>
      </p:sp>
      <p:sp>
        <p:nvSpPr>
          <p:cNvPr id="28" name="Text 24"/>
          <p:cNvSpPr txBox="1"/>
          <p:nvPr/>
        </p:nvSpPr>
        <p:spPr>
          <a:xfrm>
            <a:off x="5760720" y="3035808"/>
            <a:ext cx="2926080" cy="411480"/>
          </a:xfrm>
          <a:prstGeom prst="rect">
            <a:avLst/>
          </a:prstGeom>
          <a:noFill/>
          <a:ln/>
        </p:spPr>
        <p:txBody>
          <a:bodyPr wrap="square" lIns="0" tIns="0" rIns="0" bIns="0" rtlCol="0" anchor="ctr"/>
          <a:lstStyle/>
          <a:p>
            <a:pPr indent="0" marL="0">
              <a:buNone/>
            </a:pPr>
            <a:r>
              <a:rPr lang="en-US" sz="1250" dirty="0">
                <a:solidFill>
                  <a:srgbClr val="2B1B12"/>
                </a:solidFill>
              </a:rPr>
              <a:t>Small, built around one job</a:t>
            </a:r>
            <a:endParaRPr lang="en-US" sz="1250" dirty="0"/>
          </a:p>
        </p:txBody>
      </p:sp>
      <p:sp>
        <p:nvSpPr>
          <p:cNvPr id="29" name="Shape 25"/>
          <p:cNvSpPr/>
          <p:nvPr/>
        </p:nvSpPr>
        <p:spPr>
          <a:xfrm>
            <a:off x="457200" y="3493008"/>
            <a:ext cx="8229600" cy="0"/>
          </a:xfrm>
          <a:prstGeom prst="line">
            <a:avLst/>
          </a:prstGeom>
          <a:noFill/>
          <a:ln w="9525">
            <a:solidFill>
              <a:srgbClr val="E4D9CF"/>
            </a:solidFill>
            <a:prstDash val="solid"/>
          </a:ln>
        </p:spPr>
      </p:sp>
      <p:sp>
        <p:nvSpPr>
          <p:cNvPr id="30" name="Text 26"/>
          <p:cNvSpPr txBox="1"/>
          <p:nvPr/>
        </p:nvSpPr>
        <p:spPr>
          <a:xfrm>
            <a:off x="457200" y="3538728"/>
            <a:ext cx="2194560" cy="411480"/>
          </a:xfrm>
          <a:prstGeom prst="rect">
            <a:avLst/>
          </a:prstGeom>
          <a:noFill/>
          <a:ln/>
        </p:spPr>
        <p:txBody>
          <a:bodyPr wrap="square" lIns="0" tIns="0" rIns="0" bIns="0" rtlCol="0" anchor="ctr"/>
          <a:lstStyle/>
          <a:p>
            <a:pPr indent="0" marL="0">
              <a:buNone/>
            </a:pPr>
            <a:r>
              <a:rPr lang="en-US" sz="1200" b="1" dirty="0">
                <a:solidFill>
                  <a:srgbClr val="7A6A60"/>
                </a:solidFill>
              </a:rPr>
              <a:t>First visit</a:t>
            </a:r>
            <a:endParaRPr lang="en-US" sz="1200" dirty="0"/>
          </a:p>
        </p:txBody>
      </p:sp>
      <p:sp>
        <p:nvSpPr>
          <p:cNvPr id="31" name="Text 27"/>
          <p:cNvSpPr txBox="1"/>
          <p:nvPr/>
        </p:nvSpPr>
        <p:spPr>
          <a:xfrm>
            <a:off x="2743200" y="3538728"/>
            <a:ext cx="2834640" cy="411480"/>
          </a:xfrm>
          <a:prstGeom prst="rect">
            <a:avLst/>
          </a:prstGeom>
          <a:noFill/>
          <a:ln/>
        </p:spPr>
        <p:txBody>
          <a:bodyPr wrap="square" lIns="0" tIns="0" rIns="0" bIns="0" rtlCol="0" anchor="ctr"/>
          <a:lstStyle/>
          <a:p>
            <a:pPr indent="0" marL="0">
              <a:buNone/>
            </a:pPr>
            <a:r>
              <a:rPr lang="en-US" sz="1250" dirty="0">
                <a:solidFill>
                  <a:srgbClr val="2B1B12"/>
                </a:solidFill>
              </a:rPr>
              <a:t>A crowd, often overwhelmed</a:t>
            </a:r>
            <a:endParaRPr lang="en-US" sz="1250" dirty="0"/>
          </a:p>
        </p:txBody>
      </p:sp>
      <p:sp>
        <p:nvSpPr>
          <p:cNvPr id="32" name="Text 28"/>
          <p:cNvSpPr txBox="1"/>
          <p:nvPr/>
        </p:nvSpPr>
        <p:spPr>
          <a:xfrm>
            <a:off x="5760720" y="3538728"/>
            <a:ext cx="2926080" cy="411480"/>
          </a:xfrm>
          <a:prstGeom prst="rect">
            <a:avLst/>
          </a:prstGeom>
          <a:noFill/>
          <a:ln/>
        </p:spPr>
        <p:txBody>
          <a:bodyPr wrap="square" lIns="0" tIns="0" rIns="0" bIns="0" rtlCol="0" anchor="ctr"/>
          <a:lstStyle/>
          <a:p>
            <a:pPr indent="0" marL="0">
              <a:buNone/>
            </a:pPr>
            <a:r>
              <a:rPr lang="en-US" sz="1250" dirty="0">
                <a:solidFill>
                  <a:srgbClr val="2B1B12"/>
                </a:solidFill>
              </a:rPr>
              <a:t>Name taken, follow-up in 30 days</a:t>
            </a:r>
            <a:endParaRPr lang="en-US" sz="1250" dirty="0"/>
          </a:p>
        </p:txBody>
      </p:sp>
      <p:sp>
        <p:nvSpPr>
          <p:cNvPr id="33" name="Shape 29"/>
          <p:cNvSpPr/>
          <p:nvPr/>
        </p:nvSpPr>
        <p:spPr>
          <a:xfrm>
            <a:off x="457200" y="3995928"/>
            <a:ext cx="8229600" cy="0"/>
          </a:xfrm>
          <a:prstGeom prst="line">
            <a:avLst/>
          </a:prstGeom>
          <a:noFill/>
          <a:ln w="9525">
            <a:solidFill>
              <a:srgbClr val="E4D9CF"/>
            </a:solidFill>
            <a:prstDash val="solid"/>
          </a:ln>
        </p:spPr>
      </p:sp>
      <p:sp>
        <p:nvSpPr>
          <p:cNvPr id="34" name="month-six-row"/>
          <p:cNvSpPr/>
          <p:nvPr/>
        </p:nvSpPr>
        <p:spPr>
          <a:xfrm>
            <a:off x="365760" y="3995928"/>
            <a:ext cx="8412480" cy="502920"/>
          </a:xfrm>
          <a:prstGeom prst="roundRect">
            <a:avLst>
              <a:gd name="adj" fmla="val 18182"/>
            </a:avLst>
          </a:prstGeom>
          <a:solidFill>
            <a:srgbClr val="F6F1EC"/>
          </a:solidFill>
          <a:ln w="12700">
            <a:solidFill>
              <a:srgbClr val="F6F1EC"/>
            </a:solidFill>
            <a:prstDash val="solid"/>
          </a:ln>
        </p:spPr>
      </p:sp>
      <p:sp>
        <p:nvSpPr>
          <p:cNvPr id="35" name="Text 31"/>
          <p:cNvSpPr txBox="1"/>
          <p:nvPr/>
        </p:nvSpPr>
        <p:spPr>
          <a:xfrm>
            <a:off x="457200" y="4041648"/>
            <a:ext cx="2194560" cy="411480"/>
          </a:xfrm>
          <a:prstGeom prst="rect">
            <a:avLst/>
          </a:prstGeom>
          <a:noFill/>
          <a:ln/>
        </p:spPr>
        <p:txBody>
          <a:bodyPr wrap="square" lIns="0" tIns="0" rIns="0" bIns="0" rtlCol="0" anchor="ctr"/>
          <a:lstStyle/>
          <a:p>
            <a:pPr indent="0" marL="0">
              <a:buNone/>
            </a:pPr>
            <a:r>
              <a:rPr lang="en-US" sz="1200" b="1" dirty="0">
                <a:solidFill>
                  <a:srgbClr val="7A6A60"/>
                </a:solidFill>
              </a:rPr>
              <a:t>Month six</a:t>
            </a:r>
            <a:endParaRPr lang="en-US" sz="1200" dirty="0"/>
          </a:p>
        </p:txBody>
      </p:sp>
      <p:sp>
        <p:nvSpPr>
          <p:cNvPr id="36" name="Text 32"/>
          <p:cNvSpPr txBox="1"/>
          <p:nvPr/>
        </p:nvSpPr>
        <p:spPr>
          <a:xfrm>
            <a:off x="2743200" y="4041648"/>
            <a:ext cx="2834640" cy="411480"/>
          </a:xfrm>
          <a:prstGeom prst="rect">
            <a:avLst/>
          </a:prstGeom>
          <a:noFill/>
          <a:ln/>
        </p:spPr>
        <p:txBody>
          <a:bodyPr wrap="square" lIns="0" tIns="0" rIns="0" bIns="0" rtlCol="0" anchor="ctr"/>
          <a:lstStyle/>
          <a:p>
            <a:pPr indent="0" marL="0">
              <a:buNone/>
            </a:pPr>
            <a:r>
              <a:rPr lang="en-US" sz="1250" b="1" dirty="0">
                <a:solidFill>
                  <a:srgbClr val="2B1B12"/>
                </a:solidFill>
              </a:rPr>
              <a:t>Queue gone, rent unchanged</a:t>
            </a:r>
            <a:endParaRPr lang="en-US" sz="1250" dirty="0"/>
          </a:p>
        </p:txBody>
      </p:sp>
      <p:sp>
        <p:nvSpPr>
          <p:cNvPr id="37" name="Text 33"/>
          <p:cNvSpPr txBox="1"/>
          <p:nvPr/>
        </p:nvSpPr>
        <p:spPr>
          <a:xfrm>
            <a:off x="5760720" y="4041648"/>
            <a:ext cx="2926080" cy="411480"/>
          </a:xfrm>
          <a:prstGeom prst="rect">
            <a:avLst/>
          </a:prstGeom>
          <a:noFill/>
          <a:ln/>
        </p:spPr>
        <p:txBody>
          <a:bodyPr wrap="square" lIns="0" tIns="0" rIns="0" bIns="0" rtlCol="0" anchor="ctr"/>
          <a:lstStyle/>
          <a:p>
            <a:pPr indent="0" marL="0">
              <a:buNone/>
            </a:pPr>
            <a:r>
              <a:rPr lang="en-US" sz="1250" b="1" dirty="0">
                <a:solidFill>
                  <a:srgbClr val="2B1B12"/>
                </a:solidFill>
              </a:rPr>
              <a:t>Regulars carry the weekday</a:t>
            </a:r>
            <a:endParaRPr lang="en-US" sz="125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In Lucknow, a slow day pays the rent</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4 · THE OTHER MAP</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E4D9CF"/>
          </a:solidFill>
          <a:ln w="6350">
            <a:solidFill>
              <a:srgbClr val="E4D9CF"/>
            </a:solidFill>
            <a:prstDash val="solid"/>
          </a:ln>
        </p:spPr>
      </p:sp>
      <p:sp>
        <p:nvSpPr>
          <p:cNvPr id="7" name="progress-4"/>
          <p:cNvSpPr/>
          <p:nvPr/>
        </p:nvSpPr>
        <p:spPr>
          <a:xfrm>
            <a:off x="8476488" y="283464"/>
            <a:ext cx="118872" cy="118872"/>
          </a:xfrm>
          <a:prstGeom prst="ellipse">
            <a:avLst/>
          </a:prstGeom>
          <a:solidFill>
            <a:srgbClr val="D9822B"/>
          </a:solidFill>
          <a:ln w="6350">
            <a:solidFill>
              <a:srgbClr val="D9822B"/>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The rent gap: the same cafe needs far fewer guests where rent per sq ft is a quarter of a metro's.</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Cushman &amp; Wakefield Q3 2026 (Indiranagar); CBRE via Indian Retailer, 2022 (Lucknow). Bills assumed Rs 350 / Rs 250. Restaurant India 2026 (Barista).</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Cheap rent helps, but it isn't the whole story.</a:t>
            </a:r>
            <a:endParaRPr lang="en-US" sz="1100" dirty="0"/>
          </a:p>
        </p:txBody>
      </p:sp>
      <p:graphicFrame>
        <p:nvGraphicFramePr>
          <p:cNvPr id="12" name="Chart 0" descr=""/>
          <p:cNvGraphicFramePr/>
          <p:nvPr/>
        </p:nvGraphicFramePr>
        <p:xfrm>
          <a:off x="365760" y="1463040"/>
          <a:ext cx="4572000" cy="3063240"/>
        </p:xfrm>
        <a:graphic xmlns:a="http://schemas.openxmlformats.org/drawingml/2006/main">
          <a:graphicData uri="http://schemas.openxmlformats.org/drawingml/2006/chart">
            <c:chart xmlns:c="http://schemas.openxmlformats.org/drawingml/2006/chart" r:id="rId1"/>
          </a:graphicData>
        </a:graphic>
      </p:graphicFrame>
      <p:sp>
        <p:nvSpPr>
          <p:cNvPr id="13" name="barista-card"/>
          <p:cNvSpPr/>
          <p:nvPr/>
        </p:nvSpPr>
        <p:spPr>
          <a:xfrm>
            <a:off x="5303520" y="1554480"/>
            <a:ext cx="3383280" cy="2880360"/>
          </a:xfrm>
          <a:prstGeom prst="roundRect">
            <a:avLst>
              <a:gd name="adj" fmla="val 3175"/>
            </a:avLst>
          </a:prstGeom>
          <a:solidFill>
            <a:srgbClr val="F6F1EC"/>
          </a:solidFill>
          <a:ln w="12700">
            <a:solidFill>
              <a:srgbClr val="F6F1EC"/>
            </a:solidFill>
            <a:prstDash val="solid"/>
          </a:ln>
        </p:spPr>
      </p:sp>
      <p:sp>
        <p:nvSpPr>
          <p:cNvPr id="14" name="Text 11"/>
          <p:cNvSpPr txBox="1"/>
          <p:nvPr/>
        </p:nvSpPr>
        <p:spPr>
          <a:xfrm>
            <a:off x="5532120" y="1737360"/>
            <a:ext cx="2926080" cy="228600"/>
          </a:xfrm>
          <a:prstGeom prst="rect">
            <a:avLst/>
          </a:prstGeom>
          <a:noFill/>
          <a:ln/>
        </p:spPr>
        <p:txBody>
          <a:bodyPr wrap="square" lIns="0" tIns="0" rIns="0" bIns="0" rtlCol="0" anchor="ctr"/>
          <a:lstStyle/>
          <a:p>
            <a:pPr indent="0" marL="0">
              <a:buNone/>
            </a:pPr>
            <a:r>
              <a:rPr lang="en-US" sz="1000" b="1" spc="200" kern="0" dirty="0">
                <a:solidFill>
                  <a:srgbClr val="D9822B"/>
                </a:solidFill>
              </a:rPr>
              <a:t>BARISTA, THE COMEBACK</a:t>
            </a:r>
            <a:endParaRPr lang="en-US" sz="1000" dirty="0"/>
          </a:p>
        </p:txBody>
      </p:sp>
      <p:sp>
        <p:nvSpPr>
          <p:cNvPr id="15" name="Text 12"/>
          <p:cNvSpPr txBox="1"/>
          <p:nvPr/>
        </p:nvSpPr>
        <p:spPr>
          <a:xfrm>
            <a:off x="5532120" y="2011680"/>
            <a:ext cx="2926080" cy="548640"/>
          </a:xfrm>
          <a:prstGeom prst="rect">
            <a:avLst/>
          </a:prstGeom>
          <a:noFill/>
          <a:ln/>
        </p:spPr>
        <p:txBody>
          <a:bodyPr wrap="square" lIns="0" tIns="0" rIns="0" bIns="0" rtlCol="0" anchor="ctr"/>
          <a:lstStyle/>
          <a:p>
            <a:pPr indent="0" marL="0">
              <a:buNone/>
            </a:pPr>
            <a:r>
              <a:rPr lang="en-US" sz="3200" b="1" dirty="0">
                <a:solidFill>
                  <a:srgbClr val="2B1B12"/>
                </a:solidFill>
                <a:latin typeface="Cambria" pitchFamily="34" charset="0"/>
                <a:ea typeface="Cambria" pitchFamily="34" charset="-122"/>
                <a:cs typeface="Cambria" pitchFamily="34" charset="-120"/>
              </a:rPr>
              <a:t>500th</a:t>
            </a:r>
            <a:endParaRPr lang="en-US" sz="3200" dirty="0"/>
          </a:p>
        </p:txBody>
      </p:sp>
      <p:sp>
        <p:nvSpPr>
          <p:cNvPr id="16" name="Text 13"/>
          <p:cNvSpPr txBox="1"/>
          <p:nvPr/>
        </p:nvSpPr>
        <p:spPr>
          <a:xfrm>
            <a:off x="5532120" y="2560320"/>
            <a:ext cx="2926080" cy="274320"/>
          </a:xfrm>
          <a:prstGeom prst="rect">
            <a:avLst/>
          </a:prstGeom>
          <a:noFill/>
          <a:ln/>
        </p:spPr>
        <p:txBody>
          <a:bodyPr wrap="square" lIns="0" tIns="0" rIns="0" bIns="0" rtlCol="0" anchor="ctr"/>
          <a:lstStyle/>
          <a:p>
            <a:pPr indent="0" marL="0">
              <a:buNone/>
            </a:pPr>
            <a:r>
              <a:rPr lang="en-US" sz="1200" dirty="0">
                <a:solidFill>
                  <a:srgbClr val="7A6A60"/>
                </a:solidFill>
              </a:rPr>
              <a:t>cafe, opened in Patna</a:t>
            </a:r>
            <a:endParaRPr lang="en-US" sz="1200" dirty="0"/>
          </a:p>
        </p:txBody>
      </p:sp>
      <p:sp>
        <p:nvSpPr>
          <p:cNvPr id="17" name="Text 14"/>
          <p:cNvSpPr txBox="1"/>
          <p:nvPr/>
        </p:nvSpPr>
        <p:spPr>
          <a:xfrm>
            <a:off x="5532120" y="2880360"/>
            <a:ext cx="2926080" cy="502920"/>
          </a:xfrm>
          <a:prstGeom prst="rect">
            <a:avLst/>
          </a:prstGeom>
          <a:noFill/>
          <a:ln/>
        </p:spPr>
        <p:txBody>
          <a:bodyPr wrap="square" lIns="0" tIns="0" rIns="0" bIns="0" rtlCol="0" anchor="ctr"/>
          <a:lstStyle/>
          <a:p>
            <a:pPr indent="0" marL="0">
              <a:buNone/>
            </a:pPr>
            <a:r>
              <a:rPr lang="en-US" sz="2600" b="1" dirty="0">
                <a:solidFill>
                  <a:srgbClr val="D9822B"/>
                </a:solidFill>
                <a:latin typeface="Cambria" pitchFamily="34" charset="0"/>
                <a:ea typeface="Cambria" pitchFamily="34" charset="-122"/>
                <a:cs typeface="Cambria" pitchFamily="34" charset="-120"/>
              </a:rPr>
              <a:t>800–900</a:t>
            </a:r>
            <a:endParaRPr lang="en-US" sz="2600" dirty="0"/>
          </a:p>
        </p:txBody>
      </p:sp>
      <p:sp>
        <p:nvSpPr>
          <p:cNvPr id="18" name="Text 15"/>
          <p:cNvSpPr txBox="1"/>
          <p:nvPr/>
        </p:nvSpPr>
        <p:spPr>
          <a:xfrm>
            <a:off x="5532120" y="3383280"/>
            <a:ext cx="2926080" cy="274320"/>
          </a:xfrm>
          <a:prstGeom prst="rect">
            <a:avLst/>
          </a:prstGeom>
          <a:noFill/>
          <a:ln/>
        </p:spPr>
        <p:txBody>
          <a:bodyPr wrap="square" lIns="0" tIns="0" rIns="0" bIns="0" rtlCol="0" anchor="ctr"/>
          <a:lstStyle/>
          <a:p>
            <a:pPr indent="0" marL="0">
              <a:buNone/>
            </a:pPr>
            <a:r>
              <a:rPr lang="en-US" sz="1200" dirty="0">
                <a:solidFill>
                  <a:srgbClr val="7A6A60"/>
                </a:solidFill>
              </a:rPr>
              <a:t>cafes targeted by about 2030</a:t>
            </a:r>
            <a:endParaRPr lang="en-US" sz="1200" dirty="0"/>
          </a:p>
        </p:txBody>
      </p:sp>
      <p:sp>
        <p:nvSpPr>
          <p:cNvPr id="19" name="Text 16"/>
          <p:cNvSpPr txBox="1"/>
          <p:nvPr/>
        </p:nvSpPr>
        <p:spPr>
          <a:xfrm>
            <a:off x="5532120" y="3749040"/>
            <a:ext cx="2971800" cy="502920"/>
          </a:xfrm>
          <a:prstGeom prst="rect">
            <a:avLst/>
          </a:prstGeom>
          <a:noFill/>
          <a:ln/>
        </p:spPr>
        <p:txBody>
          <a:bodyPr wrap="square" lIns="0" tIns="0" rIns="0" bIns="0" rtlCol="0" anchor="t"/>
          <a:lstStyle/>
          <a:p>
            <a:pPr indent="0" marL="0">
              <a:buNone/>
            </a:pPr>
            <a:r>
              <a:rPr lang="en-US" sz="1250" b="1" dirty="0">
                <a:solidFill>
                  <a:srgbClr val="2B1B12"/>
                </a:solidFill>
              </a:rPr>
              <a:t>Its CEO: tier-2 stores beat metro ones on profit.</a:t>
            </a:r>
            <a:endParaRPr lang="en-US" sz="125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Smaller cities reward regulars and punish weak supply</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4 · THE OTHER MAP</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E4D9CF"/>
          </a:solidFill>
          <a:ln w="6350">
            <a:solidFill>
              <a:srgbClr val="E4D9CF"/>
            </a:solidFill>
            <a:prstDash val="solid"/>
          </a:ln>
        </p:spPr>
      </p:sp>
      <p:sp>
        <p:nvSpPr>
          <p:cNvPr id="7" name="progress-4"/>
          <p:cNvSpPr/>
          <p:nvPr/>
        </p:nvSpPr>
        <p:spPr>
          <a:xfrm>
            <a:off x="8476488" y="283464"/>
            <a:ext cx="118872" cy="118872"/>
          </a:xfrm>
          <a:prstGeom prst="ellipse">
            <a:avLst/>
          </a:prstGeom>
          <a:solidFill>
            <a:srgbClr val="D9822B"/>
          </a:solidFill>
          <a:ln w="6350">
            <a:solidFill>
              <a:srgbClr val="D9822B"/>
            </a:solidFill>
            <a:prstDash val="solid"/>
          </a:ln>
        </p:spPr>
      </p:sp>
      <p:sp>
        <p:nvSpPr>
          <p:cNvPr id="8" name="progress-5"/>
          <p:cNvSpPr/>
          <p:nvPr/>
        </p:nvSpPr>
        <p:spPr>
          <a:xfrm>
            <a:off x="8695944" y="283464"/>
            <a:ext cx="118872" cy="118872"/>
          </a:xfrm>
          <a:prstGeom prst="ellipse">
            <a:avLst/>
          </a:prstGeom>
          <a:solidFill>
            <a:srgbClr val="E4D9CF"/>
          </a:solidFill>
          <a:ln w="6350">
            <a:solidFill>
              <a:srgbClr val="E4D9CF"/>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Tier-2 cities: fast-growing cities below the eight metros, such as Lucknow, Nagpur, Jaipur and Patna.</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Fresh Cup 2026 (Roastery, Corridor Seven); Entrackr 2025 (Zepto Cafe); Free Press Journal 2024 (Didi Cafes).</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What would a second-visit cafe look like?</a:t>
            </a:r>
            <a:endParaRPr lang="en-US" sz="1100" dirty="0"/>
          </a:p>
        </p:txBody>
      </p:sp>
      <p:sp>
        <p:nvSpPr>
          <p:cNvPr id="12" name="t2-card-1"/>
          <p:cNvSpPr/>
          <p:nvPr/>
        </p:nvSpPr>
        <p:spPr>
          <a:xfrm>
            <a:off x="457200" y="1554480"/>
            <a:ext cx="4023360" cy="1280160"/>
          </a:xfrm>
          <a:prstGeom prst="roundRect">
            <a:avLst>
              <a:gd name="adj" fmla="val 7143"/>
            </a:avLst>
          </a:prstGeom>
          <a:solidFill>
            <a:srgbClr val="F6F1EC"/>
          </a:solidFill>
          <a:ln w="12700">
            <a:solidFill>
              <a:srgbClr val="F6F1EC"/>
            </a:solidFill>
            <a:prstDash val="solid"/>
          </a:ln>
        </p:spPr>
      </p:sp>
      <p:sp>
        <p:nvSpPr>
          <p:cNvPr id="13" name="t2-icon-1"/>
          <p:cNvSpPr/>
          <p:nvPr/>
        </p:nvSpPr>
        <p:spPr>
          <a:xfrm>
            <a:off x="658368" y="1783080"/>
            <a:ext cx="411480" cy="411480"/>
          </a:xfrm>
          <a:prstGeom prst="ellipse">
            <a:avLst/>
          </a:prstGeom>
          <a:solidFill>
            <a:srgbClr val="5E8C61"/>
          </a:solidFill>
          <a:ln w="12700">
            <a:solidFill>
              <a:srgbClr val="5E8C61"/>
            </a:solidFill>
            <a:prstDash val="solid"/>
          </a:ln>
        </p:spPr>
      </p:sp>
      <p:pic>
        <p:nvPicPr>
          <p:cNvPr id="14" name="Image 0" descr="preencoded.png">    </p:cNvPr>
          <p:cNvPicPr>
            <a:picLocks noChangeAspect="1"/>
          </p:cNvPicPr>
          <p:nvPr/>
        </p:nvPicPr>
        <p:blipFill>
          <a:blip r:embed="rId1"/>
          <a:stretch>
            <a:fillRect/>
          </a:stretch>
        </p:blipFill>
        <p:spPr>
          <a:xfrm>
            <a:off x="761238" y="1885950"/>
            <a:ext cx="205740" cy="205740"/>
          </a:xfrm>
          <a:prstGeom prst="rect">
            <a:avLst/>
          </a:prstGeom>
        </p:spPr>
      </p:pic>
      <p:sp>
        <p:nvSpPr>
          <p:cNvPr id="15" name="Text 12"/>
          <p:cNvSpPr txBox="1"/>
          <p:nvPr/>
        </p:nvSpPr>
        <p:spPr>
          <a:xfrm>
            <a:off x="1207008" y="1737360"/>
            <a:ext cx="3017520" cy="201168"/>
          </a:xfrm>
          <a:prstGeom prst="rect">
            <a:avLst/>
          </a:prstGeom>
          <a:noFill/>
          <a:ln/>
        </p:spPr>
        <p:txBody>
          <a:bodyPr wrap="square" lIns="0" tIns="0" rIns="0" bIns="0" rtlCol="0" anchor="ctr"/>
          <a:lstStyle/>
          <a:p>
            <a:pPr indent="0" marL="0">
              <a:buNone/>
            </a:pPr>
            <a:r>
              <a:rPr lang="en-US" sz="900" b="1" spc="200" kern="0" dirty="0">
                <a:solidFill>
                  <a:srgbClr val="5E8C61"/>
                </a:solidFill>
              </a:rPr>
              <a:t>WINNER</a:t>
            </a:r>
            <a:endParaRPr lang="en-US" sz="900" dirty="0"/>
          </a:p>
        </p:txBody>
      </p:sp>
      <p:sp>
        <p:nvSpPr>
          <p:cNvPr id="16" name="Text 13"/>
          <p:cNvSpPr txBox="1"/>
          <p:nvPr/>
        </p:nvSpPr>
        <p:spPr>
          <a:xfrm>
            <a:off x="1207008" y="1938528"/>
            <a:ext cx="3108960" cy="292608"/>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Roastery Coffee House</a:t>
            </a:r>
            <a:endParaRPr lang="en-US" sz="1500" dirty="0"/>
          </a:p>
        </p:txBody>
      </p:sp>
      <p:sp>
        <p:nvSpPr>
          <p:cNvPr id="17" name="Text 14"/>
          <p:cNvSpPr txBox="1"/>
          <p:nvPr/>
        </p:nvSpPr>
        <p:spPr>
          <a:xfrm>
            <a:off x="1207008" y="2249424"/>
            <a:ext cx="3108960" cy="502920"/>
          </a:xfrm>
          <a:prstGeom prst="rect">
            <a:avLst/>
          </a:prstGeom>
          <a:noFill/>
          <a:ln/>
        </p:spPr>
        <p:txBody>
          <a:bodyPr wrap="square" lIns="0" tIns="0" rIns="0" bIns="0" rtlCol="0" anchor="t"/>
          <a:lstStyle/>
          <a:p>
            <a:pPr indent="0" marL="0">
              <a:buNone/>
            </a:pPr>
            <a:r>
              <a:rPr lang="en-US" sz="1150" dirty="0">
                <a:solidFill>
                  <a:srgbClr val="2B1B12"/>
                </a:solidFill>
              </a:rPr>
              <a:t>5,000 sq ft, table service, max three cafes a city, off the main street.</a:t>
            </a:r>
            <a:endParaRPr lang="en-US" sz="1150" dirty="0"/>
          </a:p>
        </p:txBody>
      </p:sp>
      <p:sp>
        <p:nvSpPr>
          <p:cNvPr id="18" name="t2-card-2"/>
          <p:cNvSpPr/>
          <p:nvPr/>
        </p:nvSpPr>
        <p:spPr>
          <a:xfrm>
            <a:off x="457200" y="3017520"/>
            <a:ext cx="4023360" cy="1280160"/>
          </a:xfrm>
          <a:prstGeom prst="roundRect">
            <a:avLst>
              <a:gd name="adj" fmla="val 7143"/>
            </a:avLst>
          </a:prstGeom>
          <a:solidFill>
            <a:srgbClr val="F6F1EC"/>
          </a:solidFill>
          <a:ln w="12700">
            <a:solidFill>
              <a:srgbClr val="F6F1EC"/>
            </a:solidFill>
            <a:prstDash val="solid"/>
          </a:ln>
        </p:spPr>
      </p:sp>
      <p:sp>
        <p:nvSpPr>
          <p:cNvPr id="19" name="t2-icon-2"/>
          <p:cNvSpPr/>
          <p:nvPr/>
        </p:nvSpPr>
        <p:spPr>
          <a:xfrm>
            <a:off x="658368" y="3246120"/>
            <a:ext cx="411480" cy="411480"/>
          </a:xfrm>
          <a:prstGeom prst="ellipse">
            <a:avLst/>
          </a:prstGeom>
          <a:solidFill>
            <a:srgbClr val="5E8C61"/>
          </a:solidFill>
          <a:ln w="12700">
            <a:solidFill>
              <a:srgbClr val="5E8C61"/>
            </a:solidFill>
            <a:prstDash val="solid"/>
          </a:ln>
        </p:spPr>
      </p:sp>
      <p:pic>
        <p:nvPicPr>
          <p:cNvPr id="20" name="Image 1" descr="preencoded.png">    </p:cNvPr>
          <p:cNvPicPr>
            <a:picLocks noChangeAspect="1"/>
          </p:cNvPicPr>
          <p:nvPr/>
        </p:nvPicPr>
        <p:blipFill>
          <a:blip r:embed="rId2"/>
          <a:stretch>
            <a:fillRect/>
          </a:stretch>
        </p:blipFill>
        <p:spPr>
          <a:xfrm>
            <a:off x="761238" y="3348990"/>
            <a:ext cx="205740" cy="205740"/>
          </a:xfrm>
          <a:prstGeom prst="rect">
            <a:avLst/>
          </a:prstGeom>
        </p:spPr>
      </p:pic>
      <p:sp>
        <p:nvSpPr>
          <p:cNvPr id="21" name="Text 17"/>
          <p:cNvSpPr txBox="1"/>
          <p:nvPr/>
        </p:nvSpPr>
        <p:spPr>
          <a:xfrm>
            <a:off x="1207008" y="3200400"/>
            <a:ext cx="3017520" cy="201168"/>
          </a:xfrm>
          <a:prstGeom prst="rect">
            <a:avLst/>
          </a:prstGeom>
          <a:noFill/>
          <a:ln/>
        </p:spPr>
        <p:txBody>
          <a:bodyPr wrap="square" lIns="0" tIns="0" rIns="0" bIns="0" rtlCol="0" anchor="ctr"/>
          <a:lstStyle/>
          <a:p>
            <a:pPr indent="0" marL="0">
              <a:buNone/>
            </a:pPr>
            <a:r>
              <a:rPr lang="en-US" sz="900" b="1" spc="200" kern="0" dirty="0">
                <a:solidFill>
                  <a:srgbClr val="5E8C61"/>
                </a:solidFill>
              </a:rPr>
              <a:t>WINNER</a:t>
            </a:r>
            <a:endParaRPr lang="en-US" sz="900" dirty="0"/>
          </a:p>
        </p:txBody>
      </p:sp>
      <p:sp>
        <p:nvSpPr>
          <p:cNvPr id="22" name="Text 18"/>
          <p:cNvSpPr txBox="1"/>
          <p:nvPr/>
        </p:nvSpPr>
        <p:spPr>
          <a:xfrm>
            <a:off x="1207008" y="3401568"/>
            <a:ext cx="3108960" cy="292608"/>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Corridor Seven, Nagpur</a:t>
            </a:r>
            <a:endParaRPr lang="en-US" sz="1500" dirty="0"/>
          </a:p>
        </p:txBody>
      </p:sp>
      <p:sp>
        <p:nvSpPr>
          <p:cNvPr id="23" name="Text 19"/>
          <p:cNvSpPr txBox="1"/>
          <p:nvPr/>
        </p:nvSpPr>
        <p:spPr>
          <a:xfrm>
            <a:off x="1207008" y="3712464"/>
            <a:ext cx="3108960" cy="502920"/>
          </a:xfrm>
          <a:prstGeom prst="rect">
            <a:avLst/>
          </a:prstGeom>
          <a:noFill/>
          <a:ln/>
        </p:spPr>
        <p:txBody>
          <a:bodyPr wrap="square" lIns="0" tIns="0" rIns="0" bIns="0" rtlCol="0" anchor="t"/>
          <a:lstStyle/>
          <a:p>
            <a:pPr indent="0" marL="0">
              <a:buNone/>
            </a:pPr>
            <a:r>
              <a:rPr lang="en-US" sz="1150" dirty="0">
                <a:solidFill>
                  <a:srgbClr val="2B1B12"/>
                </a:solidFill>
              </a:rPr>
              <a:t>No ad spend since 2018; three cafes and a roastery, grown on regulars.</a:t>
            </a:r>
            <a:endParaRPr lang="en-US" sz="1150" dirty="0"/>
          </a:p>
        </p:txBody>
      </p:sp>
      <p:sp>
        <p:nvSpPr>
          <p:cNvPr id="24" name="t2-card-3"/>
          <p:cNvSpPr/>
          <p:nvPr/>
        </p:nvSpPr>
        <p:spPr>
          <a:xfrm>
            <a:off x="4663440" y="1554480"/>
            <a:ext cx="4023360" cy="1280160"/>
          </a:xfrm>
          <a:prstGeom prst="roundRect">
            <a:avLst>
              <a:gd name="adj" fmla="val 7143"/>
            </a:avLst>
          </a:prstGeom>
          <a:solidFill>
            <a:srgbClr val="F6F1EC"/>
          </a:solidFill>
          <a:ln w="12700">
            <a:solidFill>
              <a:srgbClr val="F6F1EC"/>
            </a:solidFill>
            <a:prstDash val="solid"/>
          </a:ln>
        </p:spPr>
      </p:sp>
      <p:sp>
        <p:nvSpPr>
          <p:cNvPr id="25" name="t2-icon-3"/>
          <p:cNvSpPr/>
          <p:nvPr/>
        </p:nvSpPr>
        <p:spPr>
          <a:xfrm>
            <a:off x="4864608" y="1783080"/>
            <a:ext cx="411480" cy="411480"/>
          </a:xfrm>
          <a:prstGeom prst="ellipse">
            <a:avLst/>
          </a:prstGeom>
          <a:solidFill>
            <a:srgbClr val="B5452F"/>
          </a:solidFill>
          <a:ln w="12700">
            <a:solidFill>
              <a:srgbClr val="B5452F"/>
            </a:solidFill>
            <a:prstDash val="solid"/>
          </a:ln>
        </p:spPr>
      </p:sp>
      <p:pic>
        <p:nvPicPr>
          <p:cNvPr id="26" name="Image 2" descr="preencoded.png">    </p:cNvPr>
          <p:cNvPicPr>
            <a:picLocks noChangeAspect="1"/>
          </p:cNvPicPr>
          <p:nvPr/>
        </p:nvPicPr>
        <p:blipFill>
          <a:blip r:embed="rId3"/>
          <a:stretch>
            <a:fillRect/>
          </a:stretch>
        </p:blipFill>
        <p:spPr>
          <a:xfrm>
            <a:off x="4967478" y="1885950"/>
            <a:ext cx="205740" cy="205740"/>
          </a:xfrm>
          <a:prstGeom prst="rect">
            <a:avLst/>
          </a:prstGeom>
        </p:spPr>
      </p:pic>
      <p:sp>
        <p:nvSpPr>
          <p:cNvPr id="27" name="Text 22"/>
          <p:cNvSpPr txBox="1"/>
          <p:nvPr/>
        </p:nvSpPr>
        <p:spPr>
          <a:xfrm>
            <a:off x="5413248" y="1737360"/>
            <a:ext cx="3017520" cy="201168"/>
          </a:xfrm>
          <a:prstGeom prst="rect">
            <a:avLst/>
          </a:prstGeom>
          <a:noFill/>
          <a:ln/>
        </p:spPr>
        <p:txBody>
          <a:bodyPr wrap="square" lIns="0" tIns="0" rIns="0" bIns="0" rtlCol="0" anchor="ctr"/>
          <a:lstStyle/>
          <a:p>
            <a:pPr indent="0" marL="0">
              <a:buNone/>
            </a:pPr>
            <a:r>
              <a:rPr lang="en-US" sz="900" b="1" spc="200" kern="0" dirty="0">
                <a:solidFill>
                  <a:srgbClr val="B5452F"/>
                </a:solidFill>
              </a:rPr>
              <a:t>TRAP</a:t>
            </a:r>
            <a:endParaRPr lang="en-US" sz="900" dirty="0"/>
          </a:p>
        </p:txBody>
      </p:sp>
      <p:sp>
        <p:nvSpPr>
          <p:cNvPr id="28" name="Text 23"/>
          <p:cNvSpPr txBox="1"/>
          <p:nvPr/>
        </p:nvSpPr>
        <p:spPr>
          <a:xfrm>
            <a:off x="5413248" y="1938528"/>
            <a:ext cx="3108960" cy="292608"/>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Zepto Cafe</a:t>
            </a:r>
            <a:endParaRPr lang="en-US" sz="1500" dirty="0"/>
          </a:p>
        </p:txBody>
      </p:sp>
      <p:sp>
        <p:nvSpPr>
          <p:cNvPr id="29" name="Text 24"/>
          <p:cNvSpPr txBox="1"/>
          <p:nvPr/>
        </p:nvSpPr>
        <p:spPr>
          <a:xfrm>
            <a:off x="5413248" y="2249424"/>
            <a:ext cx="3108960" cy="502920"/>
          </a:xfrm>
          <a:prstGeom prst="rect">
            <a:avLst/>
          </a:prstGeom>
          <a:noFill/>
          <a:ln/>
        </p:spPr>
        <p:txBody>
          <a:bodyPr wrap="square" lIns="0" tIns="0" rIns="0" bIns="0" rtlCol="0" anchor="t"/>
          <a:lstStyle/>
          <a:p>
            <a:pPr indent="0" marL="0">
              <a:buNone/>
            </a:pPr>
            <a:r>
              <a:rPr lang="en-US" sz="1150" dirty="0">
                <a:solidFill>
                  <a:srgbClr val="2B1B12"/>
                </a:solidFill>
              </a:rPr>
              <a:t>Paused ~44 smaller-city outlets: the beans, milk and staff didn't arrive.</a:t>
            </a:r>
            <a:endParaRPr lang="en-US" sz="1150" dirty="0"/>
          </a:p>
        </p:txBody>
      </p:sp>
      <p:sp>
        <p:nvSpPr>
          <p:cNvPr id="30" name="t2-card-4"/>
          <p:cNvSpPr/>
          <p:nvPr/>
        </p:nvSpPr>
        <p:spPr>
          <a:xfrm>
            <a:off x="4663440" y="3017520"/>
            <a:ext cx="4023360" cy="1280160"/>
          </a:xfrm>
          <a:prstGeom prst="roundRect">
            <a:avLst>
              <a:gd name="adj" fmla="val 7143"/>
            </a:avLst>
          </a:prstGeom>
          <a:solidFill>
            <a:srgbClr val="F6F1EC"/>
          </a:solidFill>
          <a:ln w="12700">
            <a:solidFill>
              <a:srgbClr val="F6F1EC"/>
            </a:solidFill>
            <a:prstDash val="solid"/>
          </a:ln>
        </p:spPr>
      </p:sp>
      <p:sp>
        <p:nvSpPr>
          <p:cNvPr id="31" name="t2-icon-4"/>
          <p:cNvSpPr/>
          <p:nvPr/>
        </p:nvSpPr>
        <p:spPr>
          <a:xfrm>
            <a:off x="4864608" y="3246120"/>
            <a:ext cx="411480" cy="411480"/>
          </a:xfrm>
          <a:prstGeom prst="ellipse">
            <a:avLst/>
          </a:prstGeom>
          <a:solidFill>
            <a:srgbClr val="B5452F"/>
          </a:solidFill>
          <a:ln w="12700">
            <a:solidFill>
              <a:srgbClr val="B5452F"/>
            </a:solidFill>
            <a:prstDash val="solid"/>
          </a:ln>
        </p:spPr>
      </p:sp>
      <p:pic>
        <p:nvPicPr>
          <p:cNvPr id="32" name="Image 3" descr="preencoded.png">    </p:cNvPr>
          <p:cNvPicPr>
            <a:picLocks noChangeAspect="1"/>
          </p:cNvPicPr>
          <p:nvPr/>
        </p:nvPicPr>
        <p:blipFill>
          <a:blip r:embed="rId4"/>
          <a:stretch>
            <a:fillRect/>
          </a:stretch>
        </p:blipFill>
        <p:spPr>
          <a:xfrm>
            <a:off x="4967478" y="3348990"/>
            <a:ext cx="205740" cy="205740"/>
          </a:xfrm>
          <a:prstGeom prst="rect">
            <a:avLst/>
          </a:prstGeom>
        </p:spPr>
      </p:pic>
      <p:sp>
        <p:nvSpPr>
          <p:cNvPr id="33" name="Text 27"/>
          <p:cNvSpPr txBox="1"/>
          <p:nvPr/>
        </p:nvSpPr>
        <p:spPr>
          <a:xfrm>
            <a:off x="5413248" y="3200400"/>
            <a:ext cx="3017520" cy="201168"/>
          </a:xfrm>
          <a:prstGeom prst="rect">
            <a:avLst/>
          </a:prstGeom>
          <a:noFill/>
          <a:ln/>
        </p:spPr>
        <p:txBody>
          <a:bodyPr wrap="square" lIns="0" tIns="0" rIns="0" bIns="0" rtlCol="0" anchor="ctr"/>
          <a:lstStyle/>
          <a:p>
            <a:pPr indent="0" marL="0">
              <a:buNone/>
            </a:pPr>
            <a:r>
              <a:rPr lang="en-US" sz="900" b="1" spc="200" kern="0" dirty="0">
                <a:solidFill>
                  <a:srgbClr val="B5452F"/>
                </a:solidFill>
              </a:rPr>
              <a:t>TRAP</a:t>
            </a:r>
            <a:endParaRPr lang="en-US" sz="900" dirty="0"/>
          </a:p>
        </p:txBody>
      </p:sp>
      <p:sp>
        <p:nvSpPr>
          <p:cNvPr id="34" name="Text 28"/>
          <p:cNvSpPr txBox="1"/>
          <p:nvPr/>
        </p:nvSpPr>
        <p:spPr>
          <a:xfrm>
            <a:off x="5413248" y="3401568"/>
            <a:ext cx="3108960" cy="292608"/>
          </a:xfrm>
          <a:prstGeom prst="rect">
            <a:avLst/>
          </a:prstGeom>
          <a:noFill/>
          <a:ln/>
        </p:spPr>
        <p:txBody>
          <a:bodyPr wrap="square" lIns="0" tIns="0" rIns="0" bIns="0" rtlCol="0" anchor="ctr"/>
          <a:lstStyle/>
          <a:p>
            <a:pPr indent="0" marL="0">
              <a:buNone/>
            </a:pPr>
            <a:r>
              <a:rPr lang="en-US" sz="1500" b="1" dirty="0">
                <a:solidFill>
                  <a:srgbClr val="2B1B12"/>
                </a:solidFill>
                <a:latin typeface="Cambria" pitchFamily="34" charset="0"/>
                <a:ea typeface="Cambria" pitchFamily="34" charset="-122"/>
                <a:cs typeface="Cambria" pitchFamily="34" charset="-120"/>
              </a:rPr>
              <a:t>Didi Cafes, Bhopal</a:t>
            </a:r>
            <a:endParaRPr lang="en-US" sz="1500" dirty="0"/>
          </a:p>
        </p:txBody>
      </p:sp>
      <p:sp>
        <p:nvSpPr>
          <p:cNvPr id="35" name="Text 29"/>
          <p:cNvSpPr txBox="1"/>
          <p:nvPr/>
        </p:nvSpPr>
        <p:spPr>
          <a:xfrm>
            <a:off x="5413248" y="3712464"/>
            <a:ext cx="3108960" cy="502920"/>
          </a:xfrm>
          <a:prstGeom prst="rect">
            <a:avLst/>
          </a:prstGeom>
          <a:noFill/>
          <a:ln/>
        </p:spPr>
        <p:txBody>
          <a:bodyPr wrap="square" lIns="0" tIns="0" rIns="0" bIns="0" rtlCol="0" anchor="t"/>
          <a:lstStyle/>
          <a:p>
            <a:pPr indent="0" marL="0">
              <a:buNone/>
            </a:pPr>
            <a:r>
              <a:rPr lang="en-US" sz="1150" dirty="0">
                <a:solidFill>
                  <a:srgbClr val="2B1B12"/>
                </a:solidFill>
              </a:rPr>
              <a:t>Daily takings fell from Rs 10,000+ to Rs 1,200 when the one patron left.</a:t>
            </a:r>
            <a:endParaRPr lang="en-US" sz="115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548640"/>
          </a:xfrm>
          <a:prstGeom prst="rect">
            <a:avLst/>
          </a:prstGeom>
          <a:noFill/>
          <a:ln/>
        </p:spPr>
        <p:txBody>
          <a:bodyPr wrap="square" lIns="0" tIns="0" rIns="0" bIns="0" rtlCol="0" anchor="t"/>
          <a:lstStyle/>
          <a:p>
            <a:pPr algn="l" indent="0" marL="0">
              <a:buNone/>
            </a:pPr>
            <a:r>
              <a:rPr lang="en-US" sz="2600" b="1" dirty="0">
                <a:solidFill>
                  <a:srgbClr val="2B1B12"/>
                </a:solidFill>
                <a:latin typeface="Cambria" pitchFamily="34" charset="0"/>
                <a:ea typeface="Cambria" pitchFamily="34" charset="-122"/>
                <a:cs typeface="Cambria" pitchFamily="34" charset="-120"/>
              </a:rPr>
              <a:t>Second Cup Club: a cafe built for the return</a:t>
            </a:r>
            <a:endParaRPr lang="en-US" sz="2600" dirty="0"/>
          </a:p>
        </p:txBody>
      </p:sp>
      <p:sp>
        <p:nvSpPr>
          <p:cNvPr id="3" name="Text 1"/>
          <p:cNvSpPr txBox="1"/>
          <p:nvPr/>
        </p:nvSpPr>
        <p:spPr>
          <a:xfrm>
            <a:off x="457200" y="228600"/>
            <a:ext cx="4572000" cy="228600"/>
          </a:xfrm>
          <a:prstGeom prst="rect">
            <a:avLst/>
          </a:prstGeom>
          <a:noFill/>
          <a:ln/>
        </p:spPr>
        <p:txBody>
          <a:bodyPr wrap="square" lIns="0" tIns="0" rIns="0" bIns="0" rtlCol="0" anchor="ctr"/>
          <a:lstStyle/>
          <a:p>
            <a:pPr indent="0" marL="0">
              <a:buNone/>
            </a:pPr>
            <a:r>
              <a:rPr lang="en-US" sz="1000" b="1" spc="200" kern="0" dirty="0">
                <a:solidFill>
                  <a:srgbClr val="D9822B"/>
                </a:solidFill>
                <a:latin typeface="Calibri" pitchFamily="34" charset="0"/>
                <a:ea typeface="Calibri" pitchFamily="34" charset="-122"/>
                <a:cs typeface="Calibri" pitchFamily="34" charset="-120"/>
              </a:rPr>
              <a:t>ACT 5 · THE FIX</a:t>
            </a:r>
            <a:endParaRPr lang="en-US" sz="1000" dirty="0"/>
          </a:p>
        </p:txBody>
      </p:sp>
      <p:sp>
        <p:nvSpPr>
          <p:cNvPr id="4" name="progress-1"/>
          <p:cNvSpPr/>
          <p:nvPr/>
        </p:nvSpPr>
        <p:spPr>
          <a:xfrm>
            <a:off x="7818120" y="283464"/>
            <a:ext cx="118872" cy="118872"/>
          </a:xfrm>
          <a:prstGeom prst="ellipse">
            <a:avLst/>
          </a:prstGeom>
          <a:solidFill>
            <a:srgbClr val="E4D9CF"/>
          </a:solidFill>
          <a:ln w="6350">
            <a:solidFill>
              <a:srgbClr val="E4D9CF"/>
            </a:solidFill>
            <a:prstDash val="solid"/>
          </a:ln>
        </p:spPr>
      </p:sp>
      <p:sp>
        <p:nvSpPr>
          <p:cNvPr id="5" name="progress-2"/>
          <p:cNvSpPr/>
          <p:nvPr/>
        </p:nvSpPr>
        <p:spPr>
          <a:xfrm>
            <a:off x="8037576" y="283464"/>
            <a:ext cx="118872" cy="118872"/>
          </a:xfrm>
          <a:prstGeom prst="ellipse">
            <a:avLst/>
          </a:prstGeom>
          <a:solidFill>
            <a:srgbClr val="E4D9CF"/>
          </a:solidFill>
          <a:ln w="6350">
            <a:solidFill>
              <a:srgbClr val="E4D9CF"/>
            </a:solidFill>
            <a:prstDash val="solid"/>
          </a:ln>
        </p:spPr>
      </p:sp>
      <p:sp>
        <p:nvSpPr>
          <p:cNvPr id="6" name="progress-3"/>
          <p:cNvSpPr/>
          <p:nvPr/>
        </p:nvSpPr>
        <p:spPr>
          <a:xfrm>
            <a:off x="8257032" y="283464"/>
            <a:ext cx="118872" cy="118872"/>
          </a:xfrm>
          <a:prstGeom prst="ellipse">
            <a:avLst/>
          </a:prstGeom>
          <a:solidFill>
            <a:srgbClr val="E4D9CF"/>
          </a:solidFill>
          <a:ln w="6350">
            <a:solidFill>
              <a:srgbClr val="E4D9CF"/>
            </a:solidFill>
            <a:prstDash val="solid"/>
          </a:ln>
        </p:spPr>
      </p:sp>
      <p:sp>
        <p:nvSpPr>
          <p:cNvPr id="7" name="progress-4"/>
          <p:cNvSpPr/>
          <p:nvPr/>
        </p:nvSpPr>
        <p:spPr>
          <a:xfrm>
            <a:off x="8476488" y="283464"/>
            <a:ext cx="118872" cy="118872"/>
          </a:xfrm>
          <a:prstGeom prst="ellipse">
            <a:avLst/>
          </a:prstGeom>
          <a:solidFill>
            <a:srgbClr val="E4D9CF"/>
          </a:solidFill>
          <a:ln w="6350">
            <a:solidFill>
              <a:srgbClr val="E4D9CF"/>
            </a:solidFill>
            <a:prstDash val="solid"/>
          </a:ln>
        </p:spPr>
      </p:sp>
      <p:sp>
        <p:nvSpPr>
          <p:cNvPr id="8" name="progress-5"/>
          <p:cNvSpPr/>
          <p:nvPr/>
        </p:nvSpPr>
        <p:spPr>
          <a:xfrm>
            <a:off x="8695944" y="283464"/>
            <a:ext cx="118872" cy="118872"/>
          </a:xfrm>
          <a:prstGeom prst="ellipse">
            <a:avLst/>
          </a:prstGeom>
          <a:solidFill>
            <a:srgbClr val="D9822B"/>
          </a:solidFill>
          <a:ln w="6350">
            <a:solidFill>
              <a:srgbClr val="D9822B"/>
            </a:solidFill>
            <a:prstDash val="solid"/>
          </a:ln>
        </p:spPr>
      </p:sp>
      <p:sp>
        <p:nvSpPr>
          <p:cNvPr id="9" name="Text 7"/>
          <p:cNvSpPr txBox="1"/>
          <p:nvPr/>
        </p:nvSpPr>
        <p:spPr>
          <a:xfrm>
            <a:off x="457200" y="1051560"/>
            <a:ext cx="8229600" cy="320040"/>
          </a:xfrm>
          <a:prstGeom prst="rect">
            <a:avLst/>
          </a:prstGeom>
          <a:noFill/>
          <a:ln/>
        </p:spPr>
        <p:txBody>
          <a:bodyPr wrap="square" lIns="0" tIns="0" rIns="0" bIns="0" rtlCol="0" anchor="ctr"/>
          <a:lstStyle/>
          <a:p>
            <a:pPr indent="0" marL="0">
              <a:buNone/>
            </a:pPr>
            <a:r>
              <a:rPr lang="en-US" sz="1300" i="1" dirty="0">
                <a:solidFill>
                  <a:srgbClr val="7A6A60"/>
                </a:solidFill>
                <a:latin typeface="Calibri" pitchFamily="34" charset="0"/>
                <a:ea typeface="Calibri" pitchFamily="34" charset="-122"/>
                <a:cs typeface="Calibri" pitchFamily="34" charset="-120"/>
              </a:rPr>
              <a:t>Second Cup Club (working name): a 600 sq ft coffee bar where every first-timer gets a reason to come back.</a:t>
            </a:r>
            <a:endParaRPr lang="en-US" sz="1300" dirty="0"/>
          </a:p>
        </p:txBody>
      </p:sp>
      <p:sp>
        <p:nvSpPr>
          <p:cNvPr id="10" name="Text 8"/>
          <p:cNvSpPr txBox="1"/>
          <p:nvPr/>
        </p:nvSpPr>
        <p:spPr>
          <a:xfrm>
            <a:off x="457200" y="4681728"/>
            <a:ext cx="4480560" cy="320040"/>
          </a:xfrm>
          <a:prstGeom prst="rect">
            <a:avLst/>
          </a:prstGeom>
          <a:noFill/>
          <a:ln/>
        </p:spPr>
        <p:txBody>
          <a:bodyPr wrap="square" lIns="0" tIns="0" rIns="0" bIns="0" rtlCol="0" anchor="t"/>
          <a:lstStyle/>
          <a:p>
            <a:pPr indent="0" marL="0">
              <a:buNone/>
            </a:pPr>
            <a:r>
              <a:rPr lang="en-US" sz="800" dirty="0">
                <a:solidFill>
                  <a:srgbClr val="7A6A60"/>
                </a:solidFill>
                <a:latin typeface="Calibri" pitchFamily="34" charset="0"/>
                <a:ea typeface="Calibri" pitchFamily="34" charset="-122"/>
                <a:cs typeface="Calibri" pitchFamily="34" charset="-120"/>
              </a:rPr>
              <a:t>Figures illustrative, built on Cushman &amp; Wakefield, CBRE 2022 and toolkit cost shares; bills, setup and return rates assumed.</a:t>
            </a:r>
            <a:endParaRPr lang="en-US" sz="800" dirty="0"/>
          </a:p>
        </p:txBody>
      </p:sp>
      <p:sp>
        <p:nvSpPr>
          <p:cNvPr id="11" name="Text 9"/>
          <p:cNvSpPr txBox="1"/>
          <p:nvPr/>
        </p:nvSpPr>
        <p:spPr>
          <a:xfrm>
            <a:off x="5029200" y="4663440"/>
            <a:ext cx="3383280" cy="365760"/>
          </a:xfrm>
          <a:prstGeom prst="rect">
            <a:avLst/>
          </a:prstGeom>
          <a:noFill/>
          <a:ln/>
        </p:spPr>
        <p:txBody>
          <a:bodyPr wrap="square" lIns="0" tIns="0" rIns="0" bIns="0" rtlCol="0" anchor="t"/>
          <a:lstStyle/>
          <a:p>
            <a:pPr algn="r" indent="0" marL="0">
              <a:buNone/>
            </a:pPr>
            <a:r>
              <a:rPr lang="en-US" sz="1100" b="1" dirty="0">
                <a:solidFill>
                  <a:srgbClr val="D9822B"/>
                </a:solidFill>
                <a:latin typeface="Calibri" pitchFamily="34" charset="0"/>
                <a:ea typeface="Calibri" pitchFamily="34" charset="-122"/>
                <a:cs typeface="Calibri" pitchFamily="34" charset="-120"/>
              </a:rPr>
              <a:t>Next  →  </a:t>
            </a:r>
            <a:pPr algn="r" indent="0" marL="0">
              <a:buNone/>
            </a:pPr>
            <a:r>
              <a:rPr lang="en-US" sz="1100" dirty="0">
                <a:solidFill>
                  <a:srgbClr val="2B1B12"/>
                </a:solidFill>
                <a:latin typeface="Calibri" pitchFamily="34" charset="0"/>
                <a:ea typeface="Calibri" pitchFamily="34" charset="-122"/>
                <a:cs typeface="Calibri" pitchFamily="34" charset="-120"/>
              </a:rPr>
              <a:t>Four rules to take home.</a:t>
            </a:r>
            <a:endParaRPr lang="en-US" sz="1100" dirty="0"/>
          </a:p>
        </p:txBody>
      </p:sp>
      <p:sp>
        <p:nvSpPr>
          <p:cNvPr id="12" name="loop-1"/>
          <p:cNvSpPr/>
          <p:nvPr/>
        </p:nvSpPr>
        <p:spPr>
          <a:xfrm>
            <a:off x="502920" y="1600200"/>
            <a:ext cx="475488" cy="475488"/>
          </a:xfrm>
          <a:prstGeom prst="ellipse">
            <a:avLst/>
          </a:prstGeom>
          <a:solidFill>
            <a:srgbClr val="2B1B12"/>
          </a:solidFill>
          <a:ln w="12700">
            <a:solidFill>
              <a:srgbClr val="2B1B12"/>
            </a:solidFill>
            <a:prstDash val="solid"/>
          </a:ln>
        </p:spPr>
      </p:sp>
      <p:pic>
        <p:nvPicPr>
          <p:cNvPr id="13" name="Image 0" descr="preencoded.png">    </p:cNvPr>
          <p:cNvPicPr>
            <a:picLocks noChangeAspect="1"/>
          </p:cNvPicPr>
          <p:nvPr/>
        </p:nvPicPr>
        <p:blipFill>
          <a:blip r:embed="rId1"/>
          <a:stretch>
            <a:fillRect/>
          </a:stretch>
        </p:blipFill>
        <p:spPr>
          <a:xfrm>
            <a:off x="621792" y="1719072"/>
            <a:ext cx="237744" cy="237744"/>
          </a:xfrm>
          <a:prstGeom prst="rect">
            <a:avLst/>
          </a:prstGeom>
        </p:spPr>
      </p:pic>
      <p:sp>
        <p:nvSpPr>
          <p:cNvPr id="14" name="Text 11"/>
          <p:cNvSpPr txBox="1"/>
          <p:nvPr/>
        </p:nvSpPr>
        <p:spPr>
          <a:xfrm>
            <a:off x="1097280" y="1600200"/>
            <a:ext cx="1828800" cy="475488"/>
          </a:xfrm>
          <a:prstGeom prst="rect">
            <a:avLst/>
          </a:prstGeom>
          <a:noFill/>
          <a:ln/>
        </p:spPr>
        <p:txBody>
          <a:bodyPr wrap="square" lIns="0" tIns="0" rIns="0" bIns="0" rtlCol="0" anchor="ctr"/>
          <a:lstStyle/>
          <a:p>
            <a:pPr indent="0" marL="0">
              <a:buNone/>
            </a:pPr>
            <a:r>
              <a:rPr lang="en-US" sz="1300" b="1" dirty="0">
                <a:solidFill>
                  <a:srgbClr val="2B1B12"/>
                </a:solidFill>
              </a:rPr>
              <a:t>First visit</a:t>
            </a:r>
            <a:endParaRPr lang="en-US" sz="1300" dirty="0"/>
          </a:p>
        </p:txBody>
      </p:sp>
      <p:sp>
        <p:nvSpPr>
          <p:cNvPr id="15" name="Shape 12"/>
          <p:cNvSpPr/>
          <p:nvPr/>
        </p:nvSpPr>
        <p:spPr>
          <a:xfrm>
            <a:off x="740664" y="2103120"/>
            <a:ext cx="0" cy="201168"/>
          </a:xfrm>
          <a:prstGeom prst="line">
            <a:avLst/>
          </a:prstGeom>
          <a:noFill/>
          <a:ln w="19050">
            <a:solidFill>
              <a:srgbClr val="E4D9CF"/>
            </a:solidFill>
            <a:prstDash val="solid"/>
          </a:ln>
        </p:spPr>
      </p:sp>
      <p:sp>
        <p:nvSpPr>
          <p:cNvPr id="16" name="loop-2"/>
          <p:cNvSpPr/>
          <p:nvPr/>
        </p:nvSpPr>
        <p:spPr>
          <a:xfrm>
            <a:off x="502920" y="2331720"/>
            <a:ext cx="475488" cy="475488"/>
          </a:xfrm>
          <a:prstGeom prst="ellipse">
            <a:avLst/>
          </a:prstGeom>
          <a:solidFill>
            <a:srgbClr val="2B1B12"/>
          </a:solidFill>
          <a:ln w="12700">
            <a:solidFill>
              <a:srgbClr val="2B1B12"/>
            </a:solidFill>
            <a:prstDash val="solid"/>
          </a:ln>
        </p:spPr>
      </p:sp>
      <p:pic>
        <p:nvPicPr>
          <p:cNvPr id="17" name="Image 1" descr="preencoded.png">    </p:cNvPr>
          <p:cNvPicPr>
            <a:picLocks noChangeAspect="1"/>
          </p:cNvPicPr>
          <p:nvPr/>
        </p:nvPicPr>
        <p:blipFill>
          <a:blip r:embed="rId2"/>
          <a:stretch>
            <a:fillRect/>
          </a:stretch>
        </p:blipFill>
        <p:spPr>
          <a:xfrm>
            <a:off x="621792" y="2450592"/>
            <a:ext cx="237744" cy="237744"/>
          </a:xfrm>
          <a:prstGeom prst="rect">
            <a:avLst/>
          </a:prstGeom>
        </p:spPr>
      </p:pic>
      <p:sp>
        <p:nvSpPr>
          <p:cNvPr id="18" name="Text 14"/>
          <p:cNvSpPr txBox="1"/>
          <p:nvPr/>
        </p:nvSpPr>
        <p:spPr>
          <a:xfrm>
            <a:off x="1097280" y="2331720"/>
            <a:ext cx="1828800" cy="475488"/>
          </a:xfrm>
          <a:prstGeom prst="rect">
            <a:avLst/>
          </a:prstGeom>
          <a:noFill/>
          <a:ln/>
        </p:spPr>
        <p:txBody>
          <a:bodyPr wrap="square" lIns="0" tIns="0" rIns="0" bIns="0" rtlCol="0" anchor="ctr"/>
          <a:lstStyle/>
          <a:p>
            <a:pPr indent="0" marL="0">
              <a:buNone/>
            </a:pPr>
            <a:r>
              <a:rPr lang="en-US" sz="1300" b="1" dirty="0">
                <a:solidFill>
                  <a:srgbClr val="2B1B12"/>
                </a:solidFill>
              </a:rPr>
              <a:t>Name + card</a:t>
            </a:r>
            <a:endParaRPr lang="en-US" sz="1300" dirty="0"/>
          </a:p>
        </p:txBody>
      </p:sp>
      <p:sp>
        <p:nvSpPr>
          <p:cNvPr id="19" name="Shape 15"/>
          <p:cNvSpPr/>
          <p:nvPr/>
        </p:nvSpPr>
        <p:spPr>
          <a:xfrm>
            <a:off x="740664" y="2834640"/>
            <a:ext cx="0" cy="201168"/>
          </a:xfrm>
          <a:prstGeom prst="line">
            <a:avLst/>
          </a:prstGeom>
          <a:noFill/>
          <a:ln w="19050">
            <a:solidFill>
              <a:srgbClr val="E4D9CF"/>
            </a:solidFill>
            <a:prstDash val="solid"/>
          </a:ln>
        </p:spPr>
      </p:sp>
      <p:sp>
        <p:nvSpPr>
          <p:cNvPr id="20" name="loop-3"/>
          <p:cNvSpPr/>
          <p:nvPr/>
        </p:nvSpPr>
        <p:spPr>
          <a:xfrm>
            <a:off x="502920" y="3063240"/>
            <a:ext cx="475488" cy="475488"/>
          </a:xfrm>
          <a:prstGeom prst="ellipse">
            <a:avLst/>
          </a:prstGeom>
          <a:solidFill>
            <a:srgbClr val="2B1B12"/>
          </a:solidFill>
          <a:ln w="12700">
            <a:solidFill>
              <a:srgbClr val="2B1B12"/>
            </a:solidFill>
            <a:prstDash val="solid"/>
          </a:ln>
        </p:spPr>
      </p:sp>
      <p:pic>
        <p:nvPicPr>
          <p:cNvPr id="21" name="Image 2" descr="preencoded.png">    </p:cNvPr>
          <p:cNvPicPr>
            <a:picLocks noChangeAspect="1"/>
          </p:cNvPicPr>
          <p:nvPr/>
        </p:nvPicPr>
        <p:blipFill>
          <a:blip r:embed="rId3"/>
          <a:stretch>
            <a:fillRect/>
          </a:stretch>
        </p:blipFill>
        <p:spPr>
          <a:xfrm>
            <a:off x="621792" y="3182112"/>
            <a:ext cx="237744" cy="237744"/>
          </a:xfrm>
          <a:prstGeom prst="rect">
            <a:avLst/>
          </a:prstGeom>
        </p:spPr>
      </p:pic>
      <p:sp>
        <p:nvSpPr>
          <p:cNvPr id="22" name="Text 17"/>
          <p:cNvSpPr txBox="1"/>
          <p:nvPr/>
        </p:nvSpPr>
        <p:spPr>
          <a:xfrm>
            <a:off x="1097280" y="3063240"/>
            <a:ext cx="1828800" cy="475488"/>
          </a:xfrm>
          <a:prstGeom prst="rect">
            <a:avLst/>
          </a:prstGeom>
          <a:noFill/>
          <a:ln/>
        </p:spPr>
        <p:txBody>
          <a:bodyPr wrap="square" lIns="0" tIns="0" rIns="0" bIns="0" rtlCol="0" anchor="ctr"/>
          <a:lstStyle/>
          <a:p>
            <a:pPr indent="0" marL="0">
              <a:buNone/>
            </a:pPr>
            <a:r>
              <a:rPr lang="en-US" sz="1300" b="1" dirty="0">
                <a:solidFill>
                  <a:srgbClr val="2B1B12"/>
                </a:solidFill>
              </a:rPr>
              <a:t>Reminder, day 10</a:t>
            </a:r>
            <a:endParaRPr lang="en-US" sz="1300" dirty="0"/>
          </a:p>
        </p:txBody>
      </p:sp>
      <p:sp>
        <p:nvSpPr>
          <p:cNvPr id="23" name="Shape 18"/>
          <p:cNvSpPr/>
          <p:nvPr/>
        </p:nvSpPr>
        <p:spPr>
          <a:xfrm>
            <a:off x="740664" y="3566160"/>
            <a:ext cx="0" cy="201168"/>
          </a:xfrm>
          <a:prstGeom prst="line">
            <a:avLst/>
          </a:prstGeom>
          <a:noFill/>
          <a:ln w="19050">
            <a:solidFill>
              <a:srgbClr val="E4D9CF"/>
            </a:solidFill>
            <a:prstDash val="solid"/>
          </a:ln>
        </p:spPr>
      </p:sp>
      <p:sp>
        <p:nvSpPr>
          <p:cNvPr id="24" name="loop-4"/>
          <p:cNvSpPr/>
          <p:nvPr/>
        </p:nvSpPr>
        <p:spPr>
          <a:xfrm>
            <a:off x="502920" y="3794760"/>
            <a:ext cx="475488" cy="475488"/>
          </a:xfrm>
          <a:prstGeom prst="ellipse">
            <a:avLst/>
          </a:prstGeom>
          <a:solidFill>
            <a:srgbClr val="D9822B"/>
          </a:solidFill>
          <a:ln w="12700">
            <a:solidFill>
              <a:srgbClr val="D9822B"/>
            </a:solidFill>
            <a:prstDash val="solid"/>
          </a:ln>
        </p:spPr>
      </p:sp>
      <p:pic>
        <p:nvPicPr>
          <p:cNvPr id="25" name="Image 3" descr="preencoded.png">    </p:cNvPr>
          <p:cNvPicPr>
            <a:picLocks noChangeAspect="1"/>
          </p:cNvPicPr>
          <p:nvPr/>
        </p:nvPicPr>
        <p:blipFill>
          <a:blip r:embed="rId4"/>
          <a:stretch>
            <a:fillRect/>
          </a:stretch>
        </p:blipFill>
        <p:spPr>
          <a:xfrm>
            <a:off x="621792" y="3913632"/>
            <a:ext cx="237744" cy="237744"/>
          </a:xfrm>
          <a:prstGeom prst="rect">
            <a:avLst/>
          </a:prstGeom>
        </p:spPr>
      </p:pic>
      <p:sp>
        <p:nvSpPr>
          <p:cNvPr id="26" name="Text 20"/>
          <p:cNvSpPr txBox="1"/>
          <p:nvPr/>
        </p:nvSpPr>
        <p:spPr>
          <a:xfrm>
            <a:off x="1097280" y="3794760"/>
            <a:ext cx="1828800" cy="475488"/>
          </a:xfrm>
          <a:prstGeom prst="rect">
            <a:avLst/>
          </a:prstGeom>
          <a:noFill/>
          <a:ln/>
        </p:spPr>
        <p:txBody>
          <a:bodyPr wrap="square" lIns="0" tIns="0" rIns="0" bIns="0" rtlCol="0" anchor="ctr"/>
          <a:lstStyle/>
          <a:p>
            <a:pPr indent="0" marL="0">
              <a:buNone/>
            </a:pPr>
            <a:r>
              <a:rPr lang="en-US" sz="1300" b="1" dirty="0">
                <a:solidFill>
                  <a:srgbClr val="2B1B12"/>
                </a:solidFill>
              </a:rPr>
              <a:t>Free 2nd cup</a:t>
            </a:r>
            <a:endParaRPr lang="en-US" sz="1300" dirty="0"/>
          </a:p>
        </p:txBody>
      </p:sp>
      <p:sp>
        <p:nvSpPr>
          <p:cNvPr id="27" name="Text 21"/>
          <p:cNvSpPr txBox="1"/>
          <p:nvPr/>
        </p:nvSpPr>
        <p:spPr>
          <a:xfrm>
            <a:off x="5074920" y="1508760"/>
            <a:ext cx="1737360" cy="320040"/>
          </a:xfrm>
          <a:prstGeom prst="rect">
            <a:avLst/>
          </a:prstGeom>
          <a:noFill/>
          <a:ln/>
        </p:spPr>
        <p:txBody>
          <a:bodyPr wrap="square" lIns="0" tIns="0" rIns="0" bIns="0" rtlCol="0" anchor="ctr"/>
          <a:lstStyle/>
          <a:p>
            <a:pPr indent="0" marL="0">
              <a:buNone/>
            </a:pPr>
            <a:r>
              <a:rPr lang="en-US" sz="1600" b="1" dirty="0">
                <a:solidFill>
                  <a:srgbClr val="2B1B12"/>
                </a:solidFill>
                <a:latin typeface="Cambria" pitchFamily="34" charset="0"/>
                <a:ea typeface="Cambria" pitchFamily="34" charset="-122"/>
                <a:cs typeface="Cambria" pitchFamily="34" charset="-120"/>
              </a:rPr>
              <a:t>Metro</a:t>
            </a:r>
            <a:endParaRPr lang="en-US" sz="1600" dirty="0"/>
          </a:p>
        </p:txBody>
      </p:sp>
      <p:sp>
        <p:nvSpPr>
          <p:cNvPr id="28" name="Text 22"/>
          <p:cNvSpPr txBox="1"/>
          <p:nvPr/>
        </p:nvSpPr>
        <p:spPr>
          <a:xfrm>
            <a:off x="5074920" y="1810512"/>
            <a:ext cx="1737360" cy="228600"/>
          </a:xfrm>
          <a:prstGeom prst="rect">
            <a:avLst/>
          </a:prstGeom>
          <a:noFill/>
          <a:ln/>
        </p:spPr>
        <p:txBody>
          <a:bodyPr wrap="square" lIns="0" tIns="0" rIns="0" bIns="0" rtlCol="0" anchor="ctr"/>
          <a:lstStyle/>
          <a:p>
            <a:pPr indent="0" marL="0">
              <a:buNone/>
            </a:pPr>
            <a:r>
              <a:rPr lang="en-US" sz="1000" dirty="0">
                <a:solidFill>
                  <a:srgbClr val="7A6A60"/>
                </a:solidFill>
              </a:rPr>
              <a:t>Koramangala</a:t>
            </a:r>
            <a:endParaRPr lang="en-US" sz="1000" dirty="0"/>
          </a:p>
        </p:txBody>
      </p:sp>
      <p:sp>
        <p:nvSpPr>
          <p:cNvPr id="29" name="Text 23"/>
          <p:cNvSpPr txBox="1"/>
          <p:nvPr/>
        </p:nvSpPr>
        <p:spPr>
          <a:xfrm>
            <a:off x="6903720" y="1508760"/>
            <a:ext cx="1737360" cy="320040"/>
          </a:xfrm>
          <a:prstGeom prst="rect">
            <a:avLst/>
          </a:prstGeom>
          <a:noFill/>
          <a:ln/>
        </p:spPr>
        <p:txBody>
          <a:bodyPr wrap="square" lIns="0" tIns="0" rIns="0" bIns="0" rtlCol="0" anchor="ctr"/>
          <a:lstStyle/>
          <a:p>
            <a:pPr indent="0" marL="0">
              <a:buNone/>
            </a:pPr>
            <a:r>
              <a:rPr lang="en-US" sz="1600" b="1" dirty="0">
                <a:solidFill>
                  <a:srgbClr val="D9822B"/>
                </a:solidFill>
                <a:latin typeface="Cambria" pitchFamily="34" charset="0"/>
                <a:ea typeface="Cambria" pitchFamily="34" charset="-122"/>
                <a:cs typeface="Cambria" pitchFamily="34" charset="-120"/>
              </a:rPr>
              <a:t>Tier-2</a:t>
            </a:r>
            <a:endParaRPr lang="en-US" sz="1600" dirty="0"/>
          </a:p>
        </p:txBody>
      </p:sp>
      <p:sp>
        <p:nvSpPr>
          <p:cNvPr id="30" name="Text 24"/>
          <p:cNvSpPr txBox="1"/>
          <p:nvPr/>
        </p:nvSpPr>
        <p:spPr>
          <a:xfrm>
            <a:off x="6903720" y="1810512"/>
            <a:ext cx="1737360" cy="228600"/>
          </a:xfrm>
          <a:prstGeom prst="rect">
            <a:avLst/>
          </a:prstGeom>
          <a:noFill/>
          <a:ln/>
        </p:spPr>
        <p:txBody>
          <a:bodyPr wrap="square" lIns="0" tIns="0" rIns="0" bIns="0" rtlCol="0" anchor="ctr"/>
          <a:lstStyle/>
          <a:p>
            <a:pPr indent="0" marL="0">
              <a:buNone/>
            </a:pPr>
            <a:r>
              <a:rPr lang="en-US" sz="1000" dirty="0">
                <a:solidFill>
                  <a:srgbClr val="7A6A60"/>
                </a:solidFill>
              </a:rPr>
              <a:t>Lucknow</a:t>
            </a:r>
            <a:endParaRPr lang="en-US" sz="1000" dirty="0"/>
          </a:p>
        </p:txBody>
      </p:sp>
      <p:sp>
        <p:nvSpPr>
          <p:cNvPr id="31" name="Text 25"/>
          <p:cNvSpPr txBox="1"/>
          <p:nvPr/>
        </p:nvSpPr>
        <p:spPr>
          <a:xfrm>
            <a:off x="3108960" y="2148840"/>
            <a:ext cx="1920240" cy="365760"/>
          </a:xfrm>
          <a:prstGeom prst="rect">
            <a:avLst/>
          </a:prstGeom>
          <a:noFill/>
          <a:ln/>
        </p:spPr>
        <p:txBody>
          <a:bodyPr wrap="square" lIns="0" tIns="0" rIns="0" bIns="0" rtlCol="0" anchor="ctr"/>
          <a:lstStyle/>
          <a:p>
            <a:pPr indent="0" marL="0">
              <a:buNone/>
            </a:pPr>
            <a:r>
              <a:rPr lang="en-US" sz="1200" dirty="0">
                <a:solidFill>
                  <a:srgbClr val="7A6A60"/>
                </a:solidFill>
              </a:rPr>
              <a:t>Revenue / month</a:t>
            </a:r>
            <a:endParaRPr lang="en-US" sz="1200" dirty="0"/>
          </a:p>
        </p:txBody>
      </p:sp>
      <p:sp>
        <p:nvSpPr>
          <p:cNvPr id="32" name="Text 26"/>
          <p:cNvSpPr txBox="1"/>
          <p:nvPr/>
        </p:nvSpPr>
        <p:spPr>
          <a:xfrm>
            <a:off x="5074920" y="2148840"/>
            <a:ext cx="1737360" cy="365760"/>
          </a:xfrm>
          <a:prstGeom prst="rect">
            <a:avLst/>
          </a:prstGeom>
          <a:noFill/>
          <a:ln/>
        </p:spPr>
        <p:txBody>
          <a:bodyPr wrap="square" lIns="0" tIns="0" rIns="0" bIns="0" rtlCol="0" anchor="ctr"/>
          <a:lstStyle/>
          <a:p>
            <a:pPr indent="0" marL="0">
              <a:buNone/>
            </a:pPr>
            <a:r>
              <a:rPr lang="en-US" sz="1300" b="1" dirty="0">
                <a:solidFill>
                  <a:srgbClr val="2B1B12"/>
                </a:solidFill>
              </a:rPr>
              <a:t>Rs 8.10 L</a:t>
            </a:r>
            <a:endParaRPr lang="en-US" sz="1300" dirty="0"/>
          </a:p>
        </p:txBody>
      </p:sp>
      <p:sp>
        <p:nvSpPr>
          <p:cNvPr id="33" name="Text 27"/>
          <p:cNvSpPr txBox="1"/>
          <p:nvPr/>
        </p:nvSpPr>
        <p:spPr>
          <a:xfrm>
            <a:off x="6903720" y="2148840"/>
            <a:ext cx="1783080" cy="365760"/>
          </a:xfrm>
          <a:prstGeom prst="rect">
            <a:avLst/>
          </a:prstGeom>
          <a:noFill/>
          <a:ln/>
        </p:spPr>
        <p:txBody>
          <a:bodyPr wrap="square" lIns="0" tIns="0" rIns="0" bIns="0" rtlCol="0" anchor="ctr"/>
          <a:lstStyle/>
          <a:p>
            <a:pPr indent="0" marL="0">
              <a:buNone/>
            </a:pPr>
            <a:r>
              <a:rPr lang="en-US" sz="1300" b="1" dirty="0">
                <a:solidFill>
                  <a:srgbClr val="2B1B12"/>
                </a:solidFill>
              </a:rPr>
              <a:t>Rs 3.96 L</a:t>
            </a:r>
            <a:endParaRPr lang="en-US" sz="1300" dirty="0"/>
          </a:p>
        </p:txBody>
      </p:sp>
      <p:sp>
        <p:nvSpPr>
          <p:cNvPr id="34" name="Shape 28"/>
          <p:cNvSpPr/>
          <p:nvPr/>
        </p:nvSpPr>
        <p:spPr>
          <a:xfrm>
            <a:off x="3108960" y="2560320"/>
            <a:ext cx="5577840" cy="0"/>
          </a:xfrm>
          <a:prstGeom prst="line">
            <a:avLst/>
          </a:prstGeom>
          <a:noFill/>
          <a:ln w="9525">
            <a:solidFill>
              <a:srgbClr val="E4D9CF"/>
            </a:solidFill>
            <a:prstDash val="solid"/>
          </a:ln>
        </p:spPr>
      </p:sp>
      <p:sp>
        <p:nvSpPr>
          <p:cNvPr id="35" name="Text 29"/>
          <p:cNvSpPr txBox="1"/>
          <p:nvPr/>
        </p:nvSpPr>
        <p:spPr>
          <a:xfrm>
            <a:off x="3108960" y="2606040"/>
            <a:ext cx="1920240" cy="365760"/>
          </a:xfrm>
          <a:prstGeom prst="rect">
            <a:avLst/>
          </a:prstGeom>
          <a:noFill/>
          <a:ln/>
        </p:spPr>
        <p:txBody>
          <a:bodyPr wrap="square" lIns="0" tIns="0" rIns="0" bIns="0" rtlCol="0" anchor="ctr"/>
          <a:lstStyle/>
          <a:p>
            <a:pPr indent="0" marL="0">
              <a:buNone/>
            </a:pPr>
            <a:r>
              <a:rPr lang="en-US" sz="1200" dirty="0">
                <a:solidFill>
                  <a:srgbClr val="7A6A60"/>
                </a:solidFill>
              </a:rPr>
              <a:t>Profit</a:t>
            </a:r>
            <a:endParaRPr lang="en-US" sz="1200" dirty="0"/>
          </a:p>
        </p:txBody>
      </p:sp>
      <p:sp>
        <p:nvSpPr>
          <p:cNvPr id="36" name="Text 30"/>
          <p:cNvSpPr txBox="1"/>
          <p:nvPr/>
        </p:nvSpPr>
        <p:spPr>
          <a:xfrm>
            <a:off x="5074920" y="2606040"/>
            <a:ext cx="1737360" cy="365760"/>
          </a:xfrm>
          <a:prstGeom prst="rect">
            <a:avLst/>
          </a:prstGeom>
          <a:noFill/>
          <a:ln/>
        </p:spPr>
        <p:txBody>
          <a:bodyPr wrap="square" lIns="0" tIns="0" rIns="0" bIns="0" rtlCol="0" anchor="ctr"/>
          <a:lstStyle/>
          <a:p>
            <a:pPr indent="0" marL="0">
              <a:buNone/>
            </a:pPr>
            <a:r>
              <a:rPr lang="en-US" sz="1300" b="1" dirty="0">
                <a:solidFill>
                  <a:srgbClr val="2B1B12"/>
                </a:solidFill>
              </a:rPr>
              <a:t>Rs 0.98 L · 12%</a:t>
            </a:r>
            <a:endParaRPr lang="en-US" sz="1300" dirty="0"/>
          </a:p>
        </p:txBody>
      </p:sp>
      <p:sp>
        <p:nvSpPr>
          <p:cNvPr id="37" name="Text 31"/>
          <p:cNvSpPr txBox="1"/>
          <p:nvPr/>
        </p:nvSpPr>
        <p:spPr>
          <a:xfrm>
            <a:off x="6903720" y="2606040"/>
            <a:ext cx="1783080" cy="365760"/>
          </a:xfrm>
          <a:prstGeom prst="rect">
            <a:avLst/>
          </a:prstGeom>
          <a:noFill/>
          <a:ln/>
        </p:spPr>
        <p:txBody>
          <a:bodyPr wrap="square" lIns="0" tIns="0" rIns="0" bIns="0" rtlCol="0" anchor="ctr"/>
          <a:lstStyle/>
          <a:p>
            <a:pPr indent="0" marL="0">
              <a:buNone/>
            </a:pPr>
            <a:r>
              <a:rPr lang="en-US" sz="1300" b="1" dirty="0">
                <a:solidFill>
                  <a:srgbClr val="2B1B12"/>
                </a:solidFill>
              </a:rPr>
              <a:t>Rs 0.53 L · 13%</a:t>
            </a:r>
            <a:endParaRPr lang="en-US" sz="1300" dirty="0"/>
          </a:p>
        </p:txBody>
      </p:sp>
      <p:sp>
        <p:nvSpPr>
          <p:cNvPr id="38" name="Shape 32"/>
          <p:cNvSpPr/>
          <p:nvPr/>
        </p:nvSpPr>
        <p:spPr>
          <a:xfrm>
            <a:off x="3108960" y="3017520"/>
            <a:ext cx="5577840" cy="0"/>
          </a:xfrm>
          <a:prstGeom prst="line">
            <a:avLst/>
          </a:prstGeom>
          <a:noFill/>
          <a:ln w="9525">
            <a:solidFill>
              <a:srgbClr val="E4D9CF"/>
            </a:solidFill>
            <a:prstDash val="solid"/>
          </a:ln>
        </p:spPr>
      </p:sp>
      <p:sp>
        <p:nvSpPr>
          <p:cNvPr id="39" name="Text 33"/>
          <p:cNvSpPr txBox="1"/>
          <p:nvPr/>
        </p:nvSpPr>
        <p:spPr>
          <a:xfrm>
            <a:off x="3108960" y="3063240"/>
            <a:ext cx="1920240" cy="365760"/>
          </a:xfrm>
          <a:prstGeom prst="rect">
            <a:avLst/>
          </a:prstGeom>
          <a:noFill/>
          <a:ln/>
        </p:spPr>
        <p:txBody>
          <a:bodyPr wrap="square" lIns="0" tIns="0" rIns="0" bIns="0" rtlCol="0" anchor="ctr"/>
          <a:lstStyle/>
          <a:p>
            <a:pPr indent="0" marL="0">
              <a:buNone/>
            </a:pPr>
            <a:r>
              <a:rPr lang="en-US" sz="1200" dirty="0">
                <a:solidFill>
                  <a:srgbClr val="7A6A60"/>
                </a:solidFill>
              </a:rPr>
              <a:t>Setup</a:t>
            </a:r>
            <a:endParaRPr lang="en-US" sz="1200" dirty="0"/>
          </a:p>
        </p:txBody>
      </p:sp>
      <p:sp>
        <p:nvSpPr>
          <p:cNvPr id="40" name="Text 34"/>
          <p:cNvSpPr txBox="1"/>
          <p:nvPr/>
        </p:nvSpPr>
        <p:spPr>
          <a:xfrm>
            <a:off x="5074920" y="3063240"/>
            <a:ext cx="1737360" cy="365760"/>
          </a:xfrm>
          <a:prstGeom prst="rect">
            <a:avLst/>
          </a:prstGeom>
          <a:noFill/>
          <a:ln/>
        </p:spPr>
        <p:txBody>
          <a:bodyPr wrap="square" lIns="0" tIns="0" rIns="0" bIns="0" rtlCol="0" anchor="ctr"/>
          <a:lstStyle/>
          <a:p>
            <a:pPr indent="0" marL="0">
              <a:buNone/>
            </a:pPr>
            <a:r>
              <a:rPr lang="en-US" sz="1300" b="1" dirty="0">
                <a:solidFill>
                  <a:srgbClr val="2B1B12"/>
                </a:solidFill>
              </a:rPr>
              <a:t>Rs 30 L</a:t>
            </a:r>
            <a:endParaRPr lang="en-US" sz="1300" dirty="0"/>
          </a:p>
        </p:txBody>
      </p:sp>
      <p:sp>
        <p:nvSpPr>
          <p:cNvPr id="41" name="Text 35"/>
          <p:cNvSpPr txBox="1"/>
          <p:nvPr/>
        </p:nvSpPr>
        <p:spPr>
          <a:xfrm>
            <a:off x="6903720" y="3063240"/>
            <a:ext cx="1783080" cy="365760"/>
          </a:xfrm>
          <a:prstGeom prst="rect">
            <a:avLst/>
          </a:prstGeom>
          <a:noFill/>
          <a:ln/>
        </p:spPr>
        <p:txBody>
          <a:bodyPr wrap="square" lIns="0" tIns="0" rIns="0" bIns="0" rtlCol="0" anchor="ctr"/>
          <a:lstStyle/>
          <a:p>
            <a:pPr indent="0" marL="0">
              <a:buNone/>
            </a:pPr>
            <a:r>
              <a:rPr lang="en-US" sz="1300" b="1" dirty="0">
                <a:solidFill>
                  <a:srgbClr val="2B1B12"/>
                </a:solidFill>
              </a:rPr>
              <a:t>Rs 15 L</a:t>
            </a:r>
            <a:endParaRPr lang="en-US" sz="1300" dirty="0"/>
          </a:p>
        </p:txBody>
      </p:sp>
      <p:sp>
        <p:nvSpPr>
          <p:cNvPr id="42" name="Shape 36"/>
          <p:cNvSpPr/>
          <p:nvPr/>
        </p:nvSpPr>
        <p:spPr>
          <a:xfrm>
            <a:off x="3108960" y="3474720"/>
            <a:ext cx="5577840" cy="0"/>
          </a:xfrm>
          <a:prstGeom prst="line">
            <a:avLst/>
          </a:prstGeom>
          <a:noFill/>
          <a:ln w="9525">
            <a:solidFill>
              <a:srgbClr val="E4D9CF"/>
            </a:solidFill>
            <a:prstDash val="solid"/>
          </a:ln>
        </p:spPr>
      </p:sp>
      <p:sp>
        <p:nvSpPr>
          <p:cNvPr id="43" name="Text 37"/>
          <p:cNvSpPr txBox="1"/>
          <p:nvPr/>
        </p:nvSpPr>
        <p:spPr>
          <a:xfrm>
            <a:off x="3108960" y="3520440"/>
            <a:ext cx="1920240" cy="365760"/>
          </a:xfrm>
          <a:prstGeom prst="rect">
            <a:avLst/>
          </a:prstGeom>
          <a:noFill/>
          <a:ln/>
        </p:spPr>
        <p:txBody>
          <a:bodyPr wrap="square" lIns="0" tIns="0" rIns="0" bIns="0" rtlCol="0" anchor="ctr"/>
          <a:lstStyle/>
          <a:p>
            <a:pPr indent="0" marL="0">
              <a:buNone/>
            </a:pPr>
            <a:r>
              <a:rPr lang="en-US" sz="1200" dirty="0">
                <a:solidFill>
                  <a:srgbClr val="7A6A60"/>
                </a:solidFill>
              </a:rPr>
              <a:t>Payback</a:t>
            </a:r>
            <a:endParaRPr lang="en-US" sz="1200" dirty="0"/>
          </a:p>
        </p:txBody>
      </p:sp>
      <p:sp>
        <p:nvSpPr>
          <p:cNvPr id="44" name="Text 38"/>
          <p:cNvSpPr txBox="1"/>
          <p:nvPr/>
        </p:nvSpPr>
        <p:spPr>
          <a:xfrm>
            <a:off x="5074920" y="3520440"/>
            <a:ext cx="1737360" cy="365760"/>
          </a:xfrm>
          <a:prstGeom prst="rect">
            <a:avLst/>
          </a:prstGeom>
          <a:noFill/>
          <a:ln/>
        </p:spPr>
        <p:txBody>
          <a:bodyPr wrap="square" lIns="0" tIns="0" rIns="0" bIns="0" rtlCol="0" anchor="ctr"/>
          <a:lstStyle/>
          <a:p>
            <a:pPr indent="0" marL="0">
              <a:buNone/>
            </a:pPr>
            <a:r>
              <a:rPr lang="en-US" sz="1300" b="1" dirty="0">
                <a:solidFill>
                  <a:srgbClr val="2B1B12"/>
                </a:solidFill>
              </a:rPr>
              <a:t>~31 months</a:t>
            </a:r>
            <a:endParaRPr lang="en-US" sz="1300" dirty="0"/>
          </a:p>
        </p:txBody>
      </p:sp>
      <p:sp>
        <p:nvSpPr>
          <p:cNvPr id="45" name="Text 39"/>
          <p:cNvSpPr txBox="1"/>
          <p:nvPr/>
        </p:nvSpPr>
        <p:spPr>
          <a:xfrm>
            <a:off x="6903720" y="3520440"/>
            <a:ext cx="1783080" cy="365760"/>
          </a:xfrm>
          <a:prstGeom prst="rect">
            <a:avLst/>
          </a:prstGeom>
          <a:noFill/>
          <a:ln/>
        </p:spPr>
        <p:txBody>
          <a:bodyPr wrap="square" lIns="0" tIns="0" rIns="0" bIns="0" rtlCol="0" anchor="ctr"/>
          <a:lstStyle/>
          <a:p>
            <a:pPr indent="0" marL="0">
              <a:buNone/>
            </a:pPr>
            <a:r>
              <a:rPr lang="en-US" sz="1300" b="1" dirty="0">
                <a:solidFill>
                  <a:srgbClr val="2B1B12"/>
                </a:solidFill>
              </a:rPr>
              <a:t>~28 months</a:t>
            </a:r>
            <a:endParaRPr lang="en-US" sz="1300" dirty="0"/>
          </a:p>
        </p:txBody>
      </p:sp>
      <p:sp>
        <p:nvSpPr>
          <p:cNvPr id="46" name="Shape 40"/>
          <p:cNvSpPr/>
          <p:nvPr/>
        </p:nvSpPr>
        <p:spPr>
          <a:xfrm>
            <a:off x="3108960" y="3931920"/>
            <a:ext cx="5577840" cy="0"/>
          </a:xfrm>
          <a:prstGeom prst="line">
            <a:avLst/>
          </a:prstGeom>
          <a:noFill/>
          <a:ln w="9525">
            <a:solidFill>
              <a:srgbClr val="E4D9CF"/>
            </a:solidFill>
            <a:prstDash val="solid"/>
          </a:ln>
        </p:spPr>
      </p:sp>
      <p:sp>
        <p:nvSpPr>
          <p:cNvPr id="47" name="Text 41"/>
          <p:cNvSpPr txBox="1"/>
          <p:nvPr/>
        </p:nvSpPr>
        <p:spPr>
          <a:xfrm>
            <a:off x="3108960" y="3977640"/>
            <a:ext cx="1920240" cy="365760"/>
          </a:xfrm>
          <a:prstGeom prst="rect">
            <a:avLst/>
          </a:prstGeom>
          <a:noFill/>
          <a:ln/>
        </p:spPr>
        <p:txBody>
          <a:bodyPr wrap="square" lIns="0" tIns="0" rIns="0" bIns="0" rtlCol="0" anchor="ctr"/>
          <a:lstStyle/>
          <a:p>
            <a:pPr indent="0" marL="0">
              <a:buNone/>
            </a:pPr>
            <a:r>
              <a:rPr lang="en-US" sz="1200" dirty="0">
                <a:solidFill>
                  <a:srgbClr val="7A6A60"/>
                </a:solidFill>
              </a:rPr>
              <a:t>Regulars needed</a:t>
            </a:r>
            <a:endParaRPr lang="en-US" sz="1200" dirty="0"/>
          </a:p>
        </p:txBody>
      </p:sp>
      <p:sp>
        <p:nvSpPr>
          <p:cNvPr id="48" name="Text 42"/>
          <p:cNvSpPr txBox="1"/>
          <p:nvPr/>
        </p:nvSpPr>
        <p:spPr>
          <a:xfrm>
            <a:off x="5074920" y="3977640"/>
            <a:ext cx="1737360" cy="365760"/>
          </a:xfrm>
          <a:prstGeom prst="rect">
            <a:avLst/>
          </a:prstGeom>
          <a:noFill/>
          <a:ln/>
        </p:spPr>
        <p:txBody>
          <a:bodyPr wrap="square" lIns="0" tIns="0" rIns="0" bIns="0" rtlCol="0" anchor="ctr"/>
          <a:lstStyle/>
          <a:p>
            <a:pPr indent="0" marL="0">
              <a:buNone/>
            </a:pPr>
            <a:r>
              <a:rPr lang="en-US" sz="1300" b="1" dirty="0">
                <a:solidFill>
                  <a:srgbClr val="2B1B12"/>
                </a:solidFill>
              </a:rPr>
              <a:t>~580</a:t>
            </a:r>
            <a:endParaRPr lang="en-US" sz="1300" dirty="0"/>
          </a:p>
        </p:txBody>
      </p:sp>
      <p:sp>
        <p:nvSpPr>
          <p:cNvPr id="49" name="Text 43"/>
          <p:cNvSpPr txBox="1"/>
          <p:nvPr/>
        </p:nvSpPr>
        <p:spPr>
          <a:xfrm>
            <a:off x="6903720" y="3977640"/>
            <a:ext cx="1783080" cy="365760"/>
          </a:xfrm>
          <a:prstGeom prst="rect">
            <a:avLst/>
          </a:prstGeom>
          <a:noFill/>
          <a:ln/>
        </p:spPr>
        <p:txBody>
          <a:bodyPr wrap="square" lIns="0" tIns="0" rIns="0" bIns="0" rtlCol="0" anchor="ctr"/>
          <a:lstStyle/>
          <a:p>
            <a:pPr indent="0" marL="0">
              <a:buNone/>
            </a:pPr>
            <a:r>
              <a:rPr lang="en-US" sz="1300" b="1" dirty="0">
                <a:solidFill>
                  <a:srgbClr val="2B1B12"/>
                </a:solidFill>
              </a:rPr>
              <a:t>~400</a:t>
            </a:r>
            <a:endParaRPr lang="en-US" sz="1300" dirty="0"/>
          </a:p>
        </p:txBody>
      </p:sp>
      <p:sp>
        <p:nvSpPr>
          <p:cNvPr id="50" name="Shape 44"/>
          <p:cNvSpPr/>
          <p:nvPr/>
        </p:nvSpPr>
        <p:spPr>
          <a:xfrm>
            <a:off x="3108960" y="4389120"/>
            <a:ext cx="5577840" cy="0"/>
          </a:xfrm>
          <a:prstGeom prst="line">
            <a:avLst/>
          </a:prstGeom>
          <a:noFill/>
          <a:ln w="9525">
            <a:solidFill>
              <a:srgbClr val="E4D9CF"/>
            </a:solidFill>
            <a:prstDash val="solid"/>
          </a:ln>
        </p:spPr>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6A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57200"/>
            <a:ext cx="8046720" cy="10972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Hype buys the first visit. The second cup pays the rent.</a:t>
            </a:r>
            <a:endParaRPr lang="en-US" sz="3000" dirty="0"/>
          </a:p>
        </p:txBody>
      </p:sp>
      <p:sp>
        <p:nvSpPr>
          <p:cNvPr id="3" name="rule-1"/>
          <p:cNvSpPr/>
          <p:nvPr/>
        </p:nvSpPr>
        <p:spPr>
          <a:xfrm>
            <a:off x="548640" y="2148840"/>
            <a:ext cx="411480" cy="411480"/>
          </a:xfrm>
          <a:prstGeom prst="ellipse">
            <a:avLst/>
          </a:prstGeom>
          <a:solidFill>
            <a:srgbClr val="D9822B"/>
          </a:solidFill>
          <a:ln w="12700">
            <a:solidFill>
              <a:srgbClr val="D9822B"/>
            </a:solidFill>
            <a:prstDash val="solid"/>
          </a:ln>
        </p:spPr>
      </p:sp>
      <p:sp>
        <p:nvSpPr>
          <p:cNvPr id="4" name="Text 2"/>
          <p:cNvSpPr txBox="1"/>
          <p:nvPr/>
        </p:nvSpPr>
        <p:spPr>
          <a:xfrm>
            <a:off x="548640" y="2148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548640" y="2743200"/>
            <a:ext cx="18745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Rent under 20%</a:t>
            </a:r>
            <a:endParaRPr lang="en-US" sz="1500" dirty="0"/>
          </a:p>
        </p:txBody>
      </p:sp>
      <p:sp>
        <p:nvSpPr>
          <p:cNvPr id="6" name="Text 4"/>
          <p:cNvSpPr txBox="1"/>
          <p:nvPr/>
        </p:nvSpPr>
        <p:spPr>
          <a:xfrm>
            <a:off x="548640" y="3108960"/>
            <a:ext cx="1828800" cy="640080"/>
          </a:xfrm>
          <a:prstGeom prst="rect">
            <a:avLst/>
          </a:prstGeom>
          <a:noFill/>
          <a:ln/>
        </p:spPr>
        <p:txBody>
          <a:bodyPr wrap="square" lIns="0" tIns="0" rIns="0" bIns="0" rtlCol="0" anchor="t"/>
          <a:lstStyle/>
          <a:p>
            <a:pPr indent="0" marL="0">
              <a:buNone/>
            </a:pPr>
            <a:r>
              <a:rPr lang="en-US" sz="1200" dirty="0">
                <a:solidFill>
                  <a:srgbClr val="C69C6D"/>
                </a:solidFill>
              </a:rPr>
              <a:t>of honest revenue, not hoped-for revenue</a:t>
            </a:r>
            <a:endParaRPr lang="en-US" sz="1200" dirty="0"/>
          </a:p>
        </p:txBody>
      </p:sp>
      <p:sp>
        <p:nvSpPr>
          <p:cNvPr id="7" name="rule-2"/>
          <p:cNvSpPr/>
          <p:nvPr/>
        </p:nvSpPr>
        <p:spPr>
          <a:xfrm>
            <a:off x="2606040" y="2148840"/>
            <a:ext cx="411480" cy="411480"/>
          </a:xfrm>
          <a:prstGeom prst="ellipse">
            <a:avLst/>
          </a:prstGeom>
          <a:solidFill>
            <a:srgbClr val="D9822B"/>
          </a:solidFill>
          <a:ln w="12700">
            <a:solidFill>
              <a:srgbClr val="D9822B"/>
            </a:solidFill>
            <a:prstDash val="solid"/>
          </a:ln>
        </p:spPr>
      </p:sp>
      <p:sp>
        <p:nvSpPr>
          <p:cNvPr id="8" name="Text 6"/>
          <p:cNvSpPr txBox="1"/>
          <p:nvPr/>
        </p:nvSpPr>
        <p:spPr>
          <a:xfrm>
            <a:off x="2606040" y="2148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2606040" y="2743200"/>
            <a:ext cx="18745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Capture each visit</a:t>
            </a:r>
            <a:endParaRPr lang="en-US" sz="1500" dirty="0"/>
          </a:p>
        </p:txBody>
      </p:sp>
      <p:sp>
        <p:nvSpPr>
          <p:cNvPr id="10" name="Text 8"/>
          <p:cNvSpPr txBox="1"/>
          <p:nvPr/>
        </p:nvSpPr>
        <p:spPr>
          <a:xfrm>
            <a:off x="2606040" y="3108960"/>
            <a:ext cx="1828800" cy="640080"/>
          </a:xfrm>
          <a:prstGeom prst="rect">
            <a:avLst/>
          </a:prstGeom>
          <a:noFill/>
          <a:ln/>
        </p:spPr>
        <p:txBody>
          <a:bodyPr wrap="square" lIns="0" tIns="0" rIns="0" bIns="0" rtlCol="0" anchor="t"/>
          <a:lstStyle/>
          <a:p>
            <a:pPr indent="0" marL="0">
              <a:buNone/>
            </a:pPr>
            <a:r>
              <a:rPr lang="en-US" sz="1200" dirty="0">
                <a:solidFill>
                  <a:srgbClr val="C69C6D"/>
                </a:solidFill>
              </a:rPr>
              <a:t>a name, a number and a reason to return</a:t>
            </a:r>
            <a:endParaRPr lang="en-US" sz="1200" dirty="0"/>
          </a:p>
        </p:txBody>
      </p:sp>
      <p:sp>
        <p:nvSpPr>
          <p:cNvPr id="11" name="rule-3"/>
          <p:cNvSpPr/>
          <p:nvPr/>
        </p:nvSpPr>
        <p:spPr>
          <a:xfrm>
            <a:off x="4663440" y="2148840"/>
            <a:ext cx="411480" cy="411480"/>
          </a:xfrm>
          <a:prstGeom prst="ellipse">
            <a:avLst/>
          </a:prstGeom>
          <a:solidFill>
            <a:srgbClr val="D9822B"/>
          </a:solidFill>
          <a:ln w="12700">
            <a:solidFill>
              <a:srgbClr val="D9822B"/>
            </a:solidFill>
            <a:prstDash val="solid"/>
          </a:ln>
        </p:spPr>
      </p:sp>
      <p:sp>
        <p:nvSpPr>
          <p:cNvPr id="12" name="Text 10"/>
          <p:cNvSpPr txBox="1"/>
          <p:nvPr/>
        </p:nvSpPr>
        <p:spPr>
          <a:xfrm>
            <a:off x="4663440" y="2148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4663440" y="2743200"/>
            <a:ext cx="18745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Prove one cafe</a:t>
            </a:r>
            <a:endParaRPr lang="en-US" sz="1500" dirty="0"/>
          </a:p>
        </p:txBody>
      </p:sp>
      <p:sp>
        <p:nvSpPr>
          <p:cNvPr id="14" name="Text 12"/>
          <p:cNvSpPr txBox="1"/>
          <p:nvPr/>
        </p:nvSpPr>
        <p:spPr>
          <a:xfrm>
            <a:off x="4663440" y="3108960"/>
            <a:ext cx="1828800" cy="640080"/>
          </a:xfrm>
          <a:prstGeom prst="rect">
            <a:avLst/>
          </a:prstGeom>
          <a:noFill/>
          <a:ln/>
        </p:spPr>
        <p:txBody>
          <a:bodyPr wrap="square" lIns="0" tIns="0" rIns="0" bIns="0" rtlCol="0" anchor="t"/>
          <a:lstStyle/>
          <a:p>
            <a:pPr indent="0" marL="0">
              <a:buNone/>
            </a:pPr>
            <a:r>
              <a:rPr lang="en-US" sz="1200" dirty="0">
                <a:solidFill>
                  <a:srgbClr val="C69C6D"/>
                </a:solidFill>
              </a:rPr>
              <a:t>six profitable months before the second</a:t>
            </a:r>
            <a:endParaRPr lang="en-US" sz="1200" dirty="0"/>
          </a:p>
        </p:txBody>
      </p:sp>
      <p:sp>
        <p:nvSpPr>
          <p:cNvPr id="15" name="rule-4"/>
          <p:cNvSpPr/>
          <p:nvPr/>
        </p:nvSpPr>
        <p:spPr>
          <a:xfrm>
            <a:off x="6720840" y="2148840"/>
            <a:ext cx="411480" cy="411480"/>
          </a:xfrm>
          <a:prstGeom prst="ellipse">
            <a:avLst/>
          </a:prstGeom>
          <a:solidFill>
            <a:srgbClr val="D9822B"/>
          </a:solidFill>
          <a:ln w="12700">
            <a:solidFill>
              <a:srgbClr val="D9822B"/>
            </a:solidFill>
            <a:prstDash val="solid"/>
          </a:ln>
        </p:spPr>
      </p:sp>
      <p:sp>
        <p:nvSpPr>
          <p:cNvPr id="16" name="Text 14"/>
          <p:cNvSpPr txBox="1"/>
          <p:nvPr/>
        </p:nvSpPr>
        <p:spPr>
          <a:xfrm>
            <a:off x="6720840" y="2148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6720840" y="2743200"/>
            <a:ext cx="18745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Follow the rent</a:t>
            </a:r>
            <a:endParaRPr lang="en-US" sz="1500" dirty="0"/>
          </a:p>
        </p:txBody>
      </p:sp>
      <p:sp>
        <p:nvSpPr>
          <p:cNvPr id="18" name="Text 16"/>
          <p:cNvSpPr txBox="1"/>
          <p:nvPr/>
        </p:nvSpPr>
        <p:spPr>
          <a:xfrm>
            <a:off x="6720840" y="3108960"/>
            <a:ext cx="1828800" cy="640080"/>
          </a:xfrm>
          <a:prstGeom prst="rect">
            <a:avLst/>
          </a:prstGeom>
          <a:noFill/>
          <a:ln/>
        </p:spPr>
        <p:txBody>
          <a:bodyPr wrap="square" lIns="0" tIns="0" rIns="0" bIns="0" rtlCol="0" anchor="t"/>
          <a:lstStyle/>
          <a:p>
            <a:pPr indent="0" marL="0">
              <a:buNone/>
            </a:pPr>
            <a:r>
              <a:rPr lang="en-US" sz="1200" dirty="0">
                <a:solidFill>
                  <a:srgbClr val="C69C6D"/>
                </a:solidFill>
              </a:rPr>
              <a:t>tier-2, with the supply chain built first</a:t>
            </a:r>
            <a:endParaRPr lang="en-US" sz="1200" dirty="0"/>
          </a:p>
        </p:txBody>
      </p:sp>
      <p:sp>
        <p:nvSpPr>
          <p:cNvPr id="19" name="Text 17"/>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000" dirty="0">
                <a:solidFill>
                  <a:srgbClr val="A8968A"/>
                </a:solidFill>
              </a:rPr>
              <a:t>Full booklet with sources: mathewvadasseril.github.io/msv-blogs  ·  The frameworks: The cafe owner's toolkit</a:t>
            </a:r>
            <a:endParaRPr lang="en-US" sz="1000" dirty="0"/>
          </a:p>
        </p:txBody>
      </p:sp>
    </p:spTree>
  </p:cSld>
  <p:clrMapOvr>
    <a:masterClrMapping/>
  </p:clrMapOvr>
</p:sld>
</file>

<file path=ppt/theme/theme1.xml><?xml version="1.0" encoding="utf-8"?>
<a:theme xmlns:a="http://schemas.openxmlformats.org/drawingml/2006/main" name="Packed Cafes">
  <a:themeElements>
    <a:clrScheme name="Packed Cafes">
      <a:dk1>
        <a:srgbClr val="2B1B12"/>
      </a:dk1>
      <a:lt1>
        <a:srgbClr val="FFFFFF"/>
      </a:lt1>
      <a:dk2>
        <a:srgbClr val="4A3528"/>
      </a:dk2>
      <a:lt2>
        <a:srgbClr val="F6F1EC"/>
      </a:lt2>
      <a:accent1>
        <a:srgbClr val="D9822B"/>
      </a:accent1>
      <a:accent2>
        <a:srgbClr val="C69C6D"/>
      </a:accent2>
      <a:accent3>
        <a:srgbClr val="1F6F78"/>
      </a:accent3>
      <a:accent4>
        <a:srgbClr val="B5452F"/>
      </a:accent4>
      <a:accent5>
        <a:srgbClr val="5E8C61"/>
      </a:accent5>
      <a:accent6>
        <a:srgbClr val="7A6A60"/>
      </a:accent6>
      <a:hlink>
        <a:srgbClr val="1F6F78"/>
      </a:hlink>
      <a:folHlink>
        <a:srgbClr val="7A6A60"/>
      </a:folHlink>
    </a:clrScheme>
    <a:fontScheme name="Packed Caf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packed cafes still close?</dc:title>
  <dc:subject>PptxGenJS Presentation</dc:subject>
  <dc:creator>Mathew Vadasseril</dc:creator>
  <cp:lastModifiedBy>Mathew Vadasseril</cp:lastModifiedBy>
  <cp:revision>1</cp:revision>
  <dcterms:created xsi:type="dcterms:W3CDTF">2026-10-21T16:46:14Z</dcterms:created>
  <dcterms:modified xsi:type="dcterms:W3CDTF">2026-10-21T16:46:14Z</dcterms:modified>
</cp:coreProperties>
</file>