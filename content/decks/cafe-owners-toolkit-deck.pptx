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A6A6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7A6A60"/>
                </a:solidFill>
                <a:latin typeface="+mn-lt"/>
              </a:rPr>
              <a:t>Bills a day a 1,000 sq ft cafe needs to keep rent at 20%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</c:v>
                </c:pt>
              </c:strCache>
            </c:strRef>
          </c:tx>
          <c:spPr>
            <a:solidFill>
              <a:srgbClr val="2B1B1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GK-I M Block, Delhi</c:v>
                  </c:pt>
                  <c:pt idx="1">
                    <c:v>Indiranagar, Bengaluru</c:v>
                  </c:pt>
                  <c:pt idx="2">
                    <c:v>Koramangala, Bengaluru</c:v>
                  </c:pt>
                  <c:pt idx="3">
                    <c:v>Malleshwaram, Bengaluru</c:v>
                  </c:pt>
                  <c:pt idx="4">
                    <c:v>Lucknow high street</c:v>
                  </c:pt>
                  <c:pt idx="5">
                    <c:v>Kochi high street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232</c:v>
                </c:pt>
                <c:pt idx="1">
                  <c:v>179</c:v>
                </c:pt>
                <c:pt idx="2">
                  <c:v>108</c:v>
                </c:pt>
                <c:pt idx="3">
                  <c:v>76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Tier-2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GK-I M Block, Delhi</c:v>
                  </c:pt>
                  <c:pt idx="1">
                    <c:v>Indiranagar, Bengaluru</c:v>
                  </c:pt>
                  <c:pt idx="2">
                    <c:v>Koramangala, Bengaluru</c:v>
                  </c:pt>
                  <c:pt idx="3">
                    <c:v>Malleshwaram, Bengaluru</c:v>
                  </c:pt>
                  <c:pt idx="4">
                    <c:v>Lucknow high street</c:v>
                  </c:pt>
                  <c:pt idx="5">
                    <c:v>Kochi high street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67</c:v>
                </c:pt>
                <c:pt idx="5">
                  <c:v>60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6A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insight: a cafe is decided long before the first cup. Walk the five dots left to right; every slide that follows sits on one of them, and the dots at the top right of each slide show where we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the toll gate. Panel 1: an owner with keys on a famous street. Panel 2: a toll gate in front of the door, Rs 12,500 a day. Panel 3: 179 cups versus 67 cups. Panel 4: the owner circling a quieter street. Say: the street sets our sales target before we sell a cup.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five hands. Panel 1: one cup, five hands reaching for it. Panel 2: the hands are the cafe next door, the new cafe, the bean supplier, the guest with a discount code, the chai stall. Panel 3: a crowded metro strip versus a delivery van stuck on the way to a smaller town. Panel 4: the owner with a plan for each hand. Red circles are the strongest forces.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nobody wants a coffee. Panel 1: three guests outside the same cafe. Panel 2: thought bubbles of a sofa, a desk with a plug, a fast-forward sign. Panel 3: one cramped cafe trying to fit all three, everyone unhappy. Panel 4: the owner pins one picture, the desk, to the plan. The highlighted card is just an example of choosing one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the 50th fairy-light cafe. Panel 1: a street of identical cafes. Panel 2: a red sea of fish fighting over one piece of bread. Panel 3: one plain cafe with a long table, guests cupping coffee with the barista. Panel 4: one fish in calm blue water. The grid is the four-action (ERRC) tool for getting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every cup is a tiny business. Panel 1: a Rs 100 note beside a coffee. Panel 2: the note torn into strips for the landlord, farmer and milkman, baristas, the electricity meter and an app. Panel 3: the owner holds one thin strip, Rs 10. Panel 4: the owner filling in the spend sheet before signing a cheque.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the bucket with no bottom. Panel 1: a viral reel pours guests into a cafe-shaped bucket. Panel 2: the bucket has no bottom, 85 of 100 fall through. Panel 3: three stay at the counter and the barista knows their names. Panel 4: the owner fits a bottom labelled name, number, follow-up in 30 days. Guests who get a one-to-one offer return about twice as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a regular brings a friend. Panel 1: the barista hands a guest her usual order before she asks. Panel 2: she returns with two friends. Panel 3: the friends get their own mugs on the shelf. Panel 4: the wheel spins faster beside an empty advertising budget box. Put the first rupee into the welcome, not the advert.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Storyboard, the second cafe. Panel 1: the owner between a door to a nearby cafe and a door to a distant city with a new menu. Panel 2: the first cafe on a scale with a green tick. Panel 3: a stack of cafes on a thin plank labelled loan, cracking. Panel 4: the owner opens the nearest door. Grow only when all three checks pass, in the box nearest what we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reading the eight rules as one story: where, for whom, will it pay, will they return, when to grow. End on the line about rent and the second visit, and point to the full booklet.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9C6D"/>
                </a:solidFill>
              </a:rPr>
              <a:t>STRATEGY BOOKLET · CAFE SERIES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cafe owner's toolkit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69C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cafes don't fail on coffee. They fail on a decision made before the first cup.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97280" y="3246120"/>
            <a:ext cx="7315200" cy="0"/>
          </a:xfrm>
          <a:prstGeom prst="line">
            <a:avLst/>
          </a:prstGeom>
          <a:noFill/>
          <a:ln w="19050">
            <a:solidFill>
              <a:srgbClr val="6B5446"/>
            </a:solidFill>
            <a:prstDash val="dash"/>
          </a:ln>
        </p:spPr>
      </p:sp>
      <p:sp>
        <p:nvSpPr>
          <p:cNvPr id="6" name="journey-1"/>
          <p:cNvSpPr/>
          <p:nvPr/>
        </p:nvSpPr>
        <p:spPr>
          <a:xfrm>
            <a:off x="914400" y="3063240"/>
            <a:ext cx="365760" cy="365760"/>
          </a:xfrm>
          <a:prstGeom prst="ellipse">
            <a:avLst/>
          </a:prstGeom>
          <a:solidFill>
            <a:srgbClr val="D9822B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Where?</a:t>
            </a:r>
            <a:endParaRPr lang="en-US" sz="1300" dirty="0"/>
          </a:p>
        </p:txBody>
      </p:sp>
      <p:sp>
        <p:nvSpPr>
          <p:cNvPr id="9" name="journey-2"/>
          <p:cNvSpPr/>
          <p:nvPr/>
        </p:nvSpPr>
        <p:spPr>
          <a:xfrm>
            <a:off x="2743200" y="3063240"/>
            <a:ext cx="365760" cy="365760"/>
          </a:xfrm>
          <a:prstGeom prst="ellipse">
            <a:avLst/>
          </a:prstGeom>
          <a:solidFill>
            <a:srgbClr val="2B1B12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 whom?</a:t>
            </a:r>
            <a:endParaRPr lang="en-US" sz="1300" dirty="0"/>
          </a:p>
        </p:txBody>
      </p:sp>
      <p:sp>
        <p:nvSpPr>
          <p:cNvPr id="12" name="journey-3"/>
          <p:cNvSpPr/>
          <p:nvPr/>
        </p:nvSpPr>
        <p:spPr>
          <a:xfrm>
            <a:off x="4572000" y="3063240"/>
            <a:ext cx="365760" cy="365760"/>
          </a:xfrm>
          <a:prstGeom prst="ellipse">
            <a:avLst/>
          </a:prstGeom>
          <a:solidFill>
            <a:srgbClr val="2B1B12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Will it pay?</a:t>
            </a:r>
            <a:endParaRPr lang="en-US" sz="1300" dirty="0"/>
          </a:p>
        </p:txBody>
      </p:sp>
      <p:sp>
        <p:nvSpPr>
          <p:cNvPr id="15" name="journey-4"/>
          <p:cNvSpPr/>
          <p:nvPr/>
        </p:nvSpPr>
        <p:spPr>
          <a:xfrm>
            <a:off x="6400800" y="3063240"/>
            <a:ext cx="365760" cy="365760"/>
          </a:xfrm>
          <a:prstGeom prst="ellipse">
            <a:avLst/>
          </a:prstGeom>
          <a:solidFill>
            <a:srgbClr val="2B1B12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Will they return?</a:t>
            </a:r>
            <a:endParaRPr lang="en-US" sz="1300" dirty="0"/>
          </a:p>
        </p:txBody>
      </p:sp>
      <p:sp>
        <p:nvSpPr>
          <p:cNvPr id="18" name="journey-5"/>
          <p:cNvSpPr/>
          <p:nvPr/>
        </p:nvSpPr>
        <p:spPr>
          <a:xfrm>
            <a:off x="8229600" y="3063240"/>
            <a:ext cx="365760" cy="365760"/>
          </a:xfrm>
          <a:prstGeom prst="ellipse">
            <a:avLst/>
          </a:prstGeom>
          <a:solidFill>
            <a:srgbClr val="2B1B12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When to grow?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9C6D"/>
                </a:solidFill>
              </a:rPr>
              <a:t>5 decisions  ·  8 frameworks  ·  1 spend sheet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22B"/>
                </a:solidFill>
              </a:rPr>
              <a:t>Next  →  </a:t>
            </a:r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It starts with the street.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famous street needs nearly 3x the customers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· WHERE?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Rent-to-revenue: the share of every rupee of sales that goes to the landlord. Keep it under 20%.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Rents: Cushman &amp; Wakefield (Bengaluru Q3 2026; Delhi 2025); CBRE (tier-2, 2022). Bill size assumed: Rs 350 metro, Rs 250 tier-2. Rule: Restaurant India 2026.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is only one hand reaching for our cup.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146304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oll-card"/>
          <p:cNvSpPr/>
          <p:nvPr/>
        </p:nvSpPr>
        <p:spPr>
          <a:xfrm>
            <a:off x="5669280" y="1554480"/>
            <a:ext cx="3017520" cy="2880360"/>
          </a:xfrm>
          <a:prstGeom prst="roundRect">
            <a:avLst>
              <a:gd name="adj" fmla="val 3810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830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0080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is a toll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89788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12,500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5897880" y="3017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a day on Indiranagar 100 Ft Rd, paid before the first cup is sold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897880" y="3657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1B12"/>
                </a:solidFill>
              </a:rPr>
              <a:t>Choose the street the cafe can carry, not the one that looks best.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hands reach for every cup we sell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· WHERE?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Forces: the five groups that push our prices down or our costs up.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ThePrint 2024 (Noida); Restaurant India 2026; Entrackr 2025 (Zepto Cafe); The News Minute 2026 (apps); Fresh Cup 2026.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market, who is walking in?</a:t>
            </a:r>
            <a:endParaRPr lang="en-US" sz="1100" dirty="0"/>
          </a:p>
        </p:txBody>
      </p:sp>
      <p:sp>
        <p:nvSpPr>
          <p:cNvPr id="12" name="our-cup"/>
          <p:cNvSpPr/>
          <p:nvPr/>
        </p:nvSpPr>
        <p:spPr>
          <a:xfrm>
            <a:off x="2103120" y="2606040"/>
            <a:ext cx="1005840" cy="1005840"/>
          </a:xfrm>
          <a:prstGeom prst="ellipse">
            <a:avLst/>
          </a:prstGeom>
          <a:solidFill>
            <a:srgbClr val="F6F1EC"/>
          </a:solidFill>
          <a:ln w="25400">
            <a:solidFill>
              <a:srgbClr val="D9822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816352"/>
            <a:ext cx="548640" cy="5486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flipH="1">
            <a:off x="2606040" y="1965960"/>
            <a:ext cx="0" cy="1143000"/>
          </a:xfrm>
          <a:prstGeom prst="line">
            <a:avLst/>
          </a:prstGeom>
          <a:noFill/>
          <a:ln w="12700">
            <a:solidFill>
              <a:srgbClr val="E4D9CF"/>
            </a:solidFill>
            <a:prstDash val="solid"/>
          </a:ln>
        </p:spPr>
      </p:sp>
      <p:sp>
        <p:nvSpPr>
          <p:cNvPr id="15" name="force-1"/>
          <p:cNvSpPr/>
          <p:nvPr/>
        </p:nvSpPr>
        <p:spPr>
          <a:xfrm>
            <a:off x="2322576" y="1682496"/>
            <a:ext cx="566928" cy="566928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182422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980944" y="18425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Rival cafes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 flipH="1">
            <a:off x="2606040" y="2755754"/>
            <a:ext cx="1087058" cy="353206"/>
          </a:xfrm>
          <a:prstGeom prst="line">
            <a:avLst/>
          </a:prstGeom>
          <a:noFill/>
          <a:ln w="12700">
            <a:solidFill>
              <a:srgbClr val="E4D9CF"/>
            </a:solidFill>
            <a:prstDash val="solid"/>
          </a:ln>
        </p:spPr>
      </p:sp>
      <p:sp>
        <p:nvSpPr>
          <p:cNvPr id="19" name="force-2"/>
          <p:cNvSpPr/>
          <p:nvPr/>
        </p:nvSpPr>
        <p:spPr>
          <a:xfrm>
            <a:off x="3409634" y="2472290"/>
            <a:ext cx="566928" cy="566928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366" y="2614022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961578" y="306665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New entrants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606040" y="3108960"/>
            <a:ext cx="671839" cy="924706"/>
          </a:xfrm>
          <a:prstGeom prst="line">
            <a:avLst/>
          </a:prstGeom>
          <a:noFill/>
          <a:ln w="12700">
            <a:solidFill>
              <a:srgbClr val="E4D9CF"/>
            </a:solidFill>
            <a:prstDash val="solid"/>
          </a:ln>
        </p:spPr>
      </p:sp>
      <p:sp>
        <p:nvSpPr>
          <p:cNvPr id="23" name="force-3"/>
          <p:cNvSpPr/>
          <p:nvPr/>
        </p:nvSpPr>
        <p:spPr>
          <a:xfrm>
            <a:off x="2994415" y="3750202"/>
            <a:ext cx="566928" cy="566928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147" y="3891934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546359" y="434456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Suppliers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 flipH="1">
            <a:off x="1934201" y="3108960"/>
            <a:ext cx="671839" cy="924706"/>
          </a:xfrm>
          <a:prstGeom prst="line">
            <a:avLst/>
          </a:prstGeom>
          <a:noFill/>
          <a:ln w="12700">
            <a:solidFill>
              <a:srgbClr val="E4D9CF"/>
            </a:solidFill>
            <a:prstDash val="solid"/>
          </a:ln>
        </p:spPr>
      </p:sp>
      <p:sp>
        <p:nvSpPr>
          <p:cNvPr id="27" name="force-4"/>
          <p:cNvSpPr/>
          <p:nvPr/>
        </p:nvSpPr>
        <p:spPr>
          <a:xfrm>
            <a:off x="1650737" y="3750202"/>
            <a:ext cx="566928" cy="566928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469" y="3891934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02681" y="434456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Guests and apps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1518982" y="2755754"/>
            <a:ext cx="1087058" cy="353206"/>
          </a:xfrm>
          <a:prstGeom prst="line">
            <a:avLst/>
          </a:prstGeom>
          <a:noFill/>
          <a:ln w="12700">
            <a:solidFill>
              <a:srgbClr val="E4D9CF"/>
            </a:solidFill>
            <a:prstDash val="solid"/>
          </a:ln>
        </p:spPr>
      </p:sp>
      <p:sp>
        <p:nvSpPr>
          <p:cNvPr id="31" name="force-5"/>
          <p:cNvSpPr/>
          <p:nvPr/>
        </p:nvSpPr>
        <p:spPr>
          <a:xfrm>
            <a:off x="1235518" y="2472290"/>
            <a:ext cx="566928" cy="566928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250" y="2614022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87462" y="306665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Substitutes</a:t>
            </a:r>
            <a:endParaRPr lang="en-US" sz="1100" dirty="0"/>
          </a:p>
        </p:txBody>
      </p:sp>
      <p:sp>
        <p:nvSpPr>
          <p:cNvPr id="34" name="force-card-1"/>
          <p:cNvSpPr/>
          <p:nvPr/>
        </p:nvSpPr>
        <p:spPr>
          <a:xfrm>
            <a:off x="5120640" y="1600200"/>
            <a:ext cx="3566160" cy="1261872"/>
          </a:xfrm>
          <a:prstGeom prst="roundRect">
            <a:avLst>
              <a:gd name="adj" fmla="val 7246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53492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</a:rPr>
              <a:t>METRO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349240" y="1984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Rivals and guests are strongest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5349240" y="229514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Noida's cafe strip "has reached its peak"; apps take Rs 40–60 of every Rs 100.</a:t>
            </a:r>
            <a:endParaRPr lang="en-US" sz="1150" dirty="0"/>
          </a:p>
        </p:txBody>
      </p:sp>
      <p:sp>
        <p:nvSpPr>
          <p:cNvPr id="38" name="force-card-2"/>
          <p:cNvSpPr/>
          <p:nvPr/>
        </p:nvSpPr>
        <p:spPr>
          <a:xfrm>
            <a:off x="5120640" y="3063240"/>
            <a:ext cx="3566160" cy="1261872"/>
          </a:xfrm>
          <a:prstGeom prst="roundRect">
            <a:avLst>
              <a:gd name="adj" fmla="val 7246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34924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</a:rPr>
              <a:t>TIER-2 CITY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349240" y="3447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 are strongest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5349240" y="375818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Zepto Cafe paused ~44 smaller-city outlets over supply problems.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wants a coffee. They hire a place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· FOR WHOM?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done: guests "hire" a cafe to get a job done in their life.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Coffee Portal 2025 (visit habits); Fresh Cup 2026 (Jaipur); ThePrint 2024 (Chelvies); Entrackr 2025 (Chaayos).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don't be the 50th cafe doing that job.</a:t>
            </a:r>
            <a:endParaRPr lang="en-US" sz="1100" dirty="0"/>
          </a:p>
        </p:txBody>
      </p:sp>
      <p:sp>
        <p:nvSpPr>
          <p:cNvPr id="12" name="job-1"/>
          <p:cNvSpPr/>
          <p:nvPr/>
        </p:nvSpPr>
        <p:spPr>
          <a:xfrm>
            <a:off x="457200" y="155448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3" name="job-icon-1"/>
          <p:cNvSpPr/>
          <p:nvPr/>
        </p:nvSpPr>
        <p:spPr>
          <a:xfrm>
            <a:off x="685800" y="1755648"/>
            <a:ext cx="548640" cy="548640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9280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meeter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</a:rPr>
              <a:t>A table for friends, after 5pm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Needs: big tables, long evening hours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6A60"/>
                </a:solidFill>
              </a:rPr>
              <a:t>e.g. Jaipur cafes full of conversation and live music</a:t>
            </a:r>
            <a:endParaRPr lang="en-US" sz="1100" dirty="0"/>
          </a:p>
        </p:txBody>
      </p:sp>
      <p:sp>
        <p:nvSpPr>
          <p:cNvPr id="19" name="job-2"/>
          <p:cNvSpPr/>
          <p:nvPr/>
        </p:nvSpPr>
        <p:spPr>
          <a:xfrm>
            <a:off x="3246120" y="155448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0" name="job-icon-2"/>
          <p:cNvSpPr/>
          <p:nvPr/>
        </p:nvSpPr>
        <p:spPr>
          <a:xfrm>
            <a:off x="3474720" y="1755648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9280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160520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</a:rPr>
              <a:t>A desk with coffee, away from home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34747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Needs: plug points, Wi‑Fi, quiet corners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347472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6A60"/>
                </a:solidFill>
              </a:rPr>
              <a:t>e.g. Chelvies Coffee's "Work From Chelvies" in Noida</a:t>
            </a:r>
            <a:endParaRPr lang="en-US" sz="1100" dirty="0"/>
          </a:p>
        </p:txBody>
      </p:sp>
      <p:sp>
        <p:nvSpPr>
          <p:cNvPr id="26" name="job-3"/>
          <p:cNvSpPr/>
          <p:nvPr/>
        </p:nvSpPr>
        <p:spPr>
          <a:xfrm>
            <a:off x="6035040" y="155448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7" name="job-icon-3"/>
          <p:cNvSpPr/>
          <p:nvPr/>
        </p:nvSpPr>
        <p:spPr>
          <a:xfrm>
            <a:off x="6263640" y="1755648"/>
            <a:ext cx="548640" cy="548640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9280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49440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commuter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2636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</a:rPr>
              <a:t>A quick, affordable daily fix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2636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Needs: speed, small store, delivery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626364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6A60"/>
                </a:solidFill>
              </a:rPr>
              <a:t>e.g. Chaayos: 200+ chai cafes, 11.9% EBITDA margin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</a:rPr>
              <a:t>57% </a:t>
            </a:r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of Indian cafe-goers visit weekly, a third of visits after 5pm.   </a:t>
            </a:r>
            <a:pPr indent="0" marL="0">
              <a:buNone/>
            </a:pPr>
            <a:r>
              <a:rPr lang="en-US" sz="1200" b="1" dirty="0">
                <a:solidFill>
                  <a:srgbClr val="2B1B12"/>
                </a:solidFill>
              </a:rPr>
              <a:t>Pick one job. Build everything around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be the 50th fairy-light cafe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· FOR WHOM?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Ocean strategy: win by offering what rivals don't, not by copying them better.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Minute 2026 (look-alike cafes); Restaurant India 2026 (margins; Coffee Board–CRISIL taste survey); Fresh Cup 2026 (Corridor Seven).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different only pays if the numbers work.</a:t>
            </a:r>
            <a:endParaRPr lang="en-US" sz="1100" dirty="0"/>
          </a:p>
        </p:txBody>
      </p:sp>
      <p:sp>
        <p:nvSpPr>
          <p:cNvPr id="12" name="red-ocean"/>
          <p:cNvSpPr/>
          <p:nvPr/>
        </p:nvSpPr>
        <p:spPr>
          <a:xfrm>
            <a:off x="457200" y="15544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6459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ocean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Bengaluru cafes are "beginning to look alike": same moodboards, same neon.</a:t>
            </a:r>
            <a:endParaRPr lang="en-US" sz="1600" dirty="0"/>
          </a:p>
        </p:txBody>
      </p:sp>
      <p:sp>
        <p:nvSpPr>
          <p:cNvPr id="14" name="blue-ocean"/>
          <p:cNvSpPr/>
          <p:nvPr/>
        </p:nvSpPr>
        <p:spPr>
          <a:xfrm>
            <a:off x="457200" y="301752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ocean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Different on what guests value, so there is no one to fight.</a:t>
            </a:r>
            <a:endParaRPr lang="en-US" sz="1600" dirty="0"/>
          </a:p>
        </p:txBody>
      </p:sp>
      <p:sp>
        <p:nvSpPr>
          <p:cNvPr id="16" name="errc-eliminate"/>
          <p:cNvSpPr/>
          <p:nvPr/>
        </p:nvSpPr>
        <p:spPr>
          <a:xfrm>
            <a:off x="3108960" y="1554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52F"/>
                </a:solidFill>
              </a:rPr>
              <a:t>ELIMINATE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</a:rPr>
              <a:t>The photo wall built only for reels</a:t>
            </a:r>
            <a:endParaRPr lang="en-US" sz="1250" dirty="0"/>
          </a:p>
        </p:txBody>
      </p:sp>
      <p:sp>
        <p:nvSpPr>
          <p:cNvPr id="19" name="errc-reduce"/>
          <p:cNvSpPr/>
          <p:nvPr/>
        </p:nvSpPr>
        <p:spPr>
          <a:xfrm>
            <a:off x="5943600" y="1554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1B12"/>
                </a:solidFill>
              </a:rPr>
              <a:t>REDUCE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</a:rPr>
              <a:t>The 60-item menu: meals earn 30–45% gross, coffee 70–80%</a:t>
            </a:r>
            <a:endParaRPr lang="en-US" sz="1250" dirty="0"/>
          </a:p>
        </p:txBody>
      </p:sp>
      <p:sp>
        <p:nvSpPr>
          <p:cNvPr id="22" name="errc-raise"/>
          <p:cNvSpPr/>
          <p:nvPr/>
        </p:nvSpPr>
        <p:spPr>
          <a:xfrm>
            <a:off x="3108960" y="301752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78"/>
                </a:solidFill>
              </a:rPr>
              <a:t>RAISE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</a:rPr>
              <a:t>Coffee quality: 63% of tier-2 regulars rate taste first</a:t>
            </a:r>
            <a:endParaRPr lang="en-US" sz="1250" dirty="0"/>
          </a:p>
        </p:txBody>
      </p:sp>
      <p:sp>
        <p:nvSpPr>
          <p:cNvPr id="25" name="errc-create"/>
          <p:cNvSpPr/>
          <p:nvPr/>
        </p:nvSpPr>
        <p:spPr>
          <a:xfrm>
            <a:off x="5943600" y="301752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</a:rPr>
              <a:t>CREATE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</a:rPr>
              <a:t>A reason to return: Corridor Seven's tastings, no ads since 2018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every Rs 100 a guest pays, about Rs 10 is 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3 · WILL IT PAY?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the profit or loss on one cup, one bill or one store.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India 2026 (cost benchmarks); The News Minute 2026 (apps). Spend sheet figures are illustrations: 1,000 sq ft, 30% / 28% / 12% costs, 3-year payback.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sums only work if guests come back.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A60"/>
                </a:solidFill>
              </a:rPr>
              <a:t>Rs 100 of sales</a:t>
            </a:r>
            <a:endParaRPr lang="en-US" sz="1100" dirty="0"/>
          </a:p>
        </p:txBody>
      </p:sp>
      <p:sp>
        <p:nvSpPr>
          <p:cNvPr id="13" name="split-rent"/>
          <p:cNvSpPr/>
          <p:nvPr/>
        </p:nvSpPr>
        <p:spPr>
          <a:xfrm>
            <a:off x="457200" y="1828800"/>
            <a:ext cx="1609344" cy="685800"/>
          </a:xfrm>
          <a:prstGeom prst="rect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1874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Rs 20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Rent</a:t>
            </a:r>
            <a:endParaRPr lang="en-US" sz="1600" dirty="0"/>
          </a:p>
        </p:txBody>
      </p:sp>
      <p:sp>
        <p:nvSpPr>
          <p:cNvPr id="15" name="split-ingredients"/>
          <p:cNvSpPr/>
          <p:nvPr/>
        </p:nvSpPr>
        <p:spPr>
          <a:xfrm>
            <a:off x="2103120" y="1828800"/>
            <a:ext cx="2432304" cy="685800"/>
          </a:xfrm>
          <a:prstGeom prst="rect">
            <a:avLst/>
          </a:prstGeom>
          <a:solidFill>
            <a:srgbClr val="4A3528"/>
          </a:solidFill>
          <a:ln w="12700">
            <a:solidFill>
              <a:srgbClr val="4A35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76272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Rs 30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Ingredients</a:t>
            </a:r>
            <a:endParaRPr lang="en-US" sz="1600" dirty="0"/>
          </a:p>
        </p:txBody>
      </p:sp>
      <p:sp>
        <p:nvSpPr>
          <p:cNvPr id="17" name="split-staff"/>
          <p:cNvSpPr/>
          <p:nvPr/>
        </p:nvSpPr>
        <p:spPr>
          <a:xfrm>
            <a:off x="4572000" y="1828800"/>
            <a:ext cx="2267712" cy="685800"/>
          </a:xfrm>
          <a:prstGeom prst="rect">
            <a:avLst/>
          </a:prstGeom>
          <a:solidFill>
            <a:srgbClr val="6B5446"/>
          </a:solidFill>
          <a:ln w="12700">
            <a:solidFill>
              <a:srgbClr val="6B5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45152" y="187452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Rs 28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Staff</a:t>
            </a:r>
            <a:endParaRPr lang="en-US" sz="1600" dirty="0"/>
          </a:p>
        </p:txBody>
      </p:sp>
      <p:sp>
        <p:nvSpPr>
          <p:cNvPr id="19" name="split-other"/>
          <p:cNvSpPr/>
          <p:nvPr/>
        </p:nvSpPr>
        <p:spPr>
          <a:xfrm>
            <a:off x="6876288" y="1828800"/>
            <a:ext cx="950976" cy="685800"/>
          </a:xfrm>
          <a:prstGeom prst="rect">
            <a:avLst/>
          </a:prstGeom>
          <a:solidFill>
            <a:srgbClr val="C69C6D"/>
          </a:solidFill>
          <a:ln w="12700">
            <a:solidFill>
              <a:srgbClr val="C69C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874520"/>
            <a:ext cx="850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12"/>
                </a:solidFill>
              </a:rPr>
              <a:t>Rs 12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B1B12"/>
                </a:solidFill>
              </a:rPr>
              <a:t>Other</a:t>
            </a:r>
            <a:endParaRPr lang="en-US" sz="1600" dirty="0"/>
          </a:p>
        </p:txBody>
      </p:sp>
      <p:sp>
        <p:nvSpPr>
          <p:cNvPr id="21" name="split-ours"/>
          <p:cNvSpPr/>
          <p:nvPr/>
        </p:nvSpPr>
        <p:spPr>
          <a:xfrm>
            <a:off x="7863840" y="1828800"/>
            <a:ext cx="786384" cy="6858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36992" y="18745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Rs 10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Ours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452F"/>
                </a:solidFill>
              </a:rPr>
              <a:t>Leak to watch: 10% of sales through delivery apps can cost about half the Rs 10.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</a:rPr>
              <a:t>THE SPEND SHEET SAYS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43 lakh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</a:rPr>
              <a:t>most a metro cafe should spend on setup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21 lakh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</a:rPr>
              <a:t>most a tier-2 cafe should spend on setup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/ 59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</a:rPr>
              <a:t>bills a day to break even, metro / tier-2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of 100 first-time guests never come back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4 · WILL THEY RETURN?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funnel: how many first-time guests return, and how many become regulars.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Intelligence 2026 (~1m US restaurant guests); Hospitality Tech 2023. Regulars maths is an illustration on the metro spend sheet.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 do more than pay. They bring friends.</a:t>
            </a:r>
            <a:endParaRPr lang="en-US" sz="1100" dirty="0"/>
          </a:p>
        </p:txBody>
      </p:sp>
      <p:sp>
        <p:nvSpPr>
          <p:cNvPr id="12" name="funnel-1"/>
          <p:cNvSpPr/>
          <p:nvPr/>
        </p:nvSpPr>
        <p:spPr>
          <a:xfrm>
            <a:off x="457200" y="1600200"/>
            <a:ext cx="4206240" cy="566928"/>
          </a:xfrm>
          <a:prstGeom prst="rect">
            <a:avLst/>
          </a:prstGeom>
          <a:solidFill>
            <a:srgbClr val="C69C6D"/>
          </a:solidFill>
          <a:ln w="12700">
            <a:solidFill>
              <a:srgbClr val="C69C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16733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 </a:t>
            </a:r>
            <a:pPr algn="ctr"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First visit</a:t>
            </a:r>
            <a:endParaRPr lang="en-US" sz="2000" dirty="0"/>
          </a:p>
        </p:txBody>
      </p:sp>
      <p:sp>
        <p:nvSpPr>
          <p:cNvPr id="14" name="funnel-2"/>
          <p:cNvSpPr/>
          <p:nvPr/>
        </p:nvSpPr>
        <p:spPr>
          <a:xfrm>
            <a:off x="2244852" y="2377440"/>
            <a:ext cx="630936" cy="566928"/>
          </a:xfrm>
          <a:prstGeom prst="rect">
            <a:avLst/>
          </a:prstGeom>
          <a:solidFill>
            <a:srgbClr val="8C6A4F"/>
          </a:solidFill>
          <a:ln w="12700">
            <a:solidFill>
              <a:srgbClr val="8C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2948" y="24505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pPr algn="l"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Came back</a:t>
            </a:r>
            <a:endParaRPr lang="en-US" sz="2000" dirty="0"/>
          </a:p>
        </p:txBody>
      </p:sp>
      <p:sp>
        <p:nvSpPr>
          <p:cNvPr id="16" name="funnel-3"/>
          <p:cNvSpPr/>
          <p:nvPr/>
        </p:nvSpPr>
        <p:spPr>
          <a:xfrm>
            <a:off x="2478024" y="3154680"/>
            <a:ext cx="164592" cy="56692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79776" y="32278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algn="l"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Regulars (5+ visits)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1B12"/>
                </a:solidFill>
              </a:rPr>
              <a:t>Fix the bottom before you pour: capture every first visit, follow up within 30 days.</a:t>
            </a:r>
            <a:endParaRPr lang="en-US" sz="1200" dirty="0"/>
          </a:p>
        </p:txBody>
      </p:sp>
      <p:sp>
        <p:nvSpPr>
          <p:cNvPr id="19" name="regulars-maths"/>
          <p:cNvSpPr/>
          <p:nvPr/>
        </p:nvSpPr>
        <p:spPr>
          <a:xfrm>
            <a:off x="5120640" y="155448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17190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bills a month the cafe needs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404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404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regulars, at 4 visits a month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090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27,500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090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first visits to find them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7764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776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</a:rPr>
              <a:t>what a strong launch reel brings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regular brings a friend, and the wheel spins faster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4 · WILL THEY RETURN?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Flywheel: a loop where each step pushes the next, so growth gets easier over time.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India 2026, citing Toast Regulars Report (US); Fresh Cup 2026 (Corridor Seven, Nagpur).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spinning wheel tempts a second cafe.</a:t>
            </a:r>
            <a:endParaRPr lang="en-US" sz="1100" dirty="0"/>
          </a:p>
        </p:txBody>
      </p:sp>
      <p:sp>
        <p:nvSpPr>
          <p:cNvPr id="12" name="wheel"/>
          <p:cNvSpPr/>
          <p:nvPr/>
        </p:nvSpPr>
        <p:spPr>
          <a:xfrm>
            <a:off x="1828800" y="205740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9C6D"/>
            </a:solidFill>
            <a:prstDash val="dash"/>
          </a:ln>
        </p:spPr>
      </p:sp>
      <p:sp>
        <p:nvSpPr>
          <p:cNvPr id="13" name="wheel-step-1"/>
          <p:cNvSpPr/>
          <p:nvPr/>
        </p:nvSpPr>
        <p:spPr>
          <a:xfrm>
            <a:off x="2441448" y="1755648"/>
            <a:ext cx="603504" cy="6035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324" y="1906524"/>
            <a:ext cx="301752" cy="30175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136392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Great coffee, remembered name</a:t>
            </a:r>
            <a:endParaRPr lang="en-US" sz="1100" dirty="0"/>
          </a:p>
        </p:txBody>
      </p:sp>
      <p:sp>
        <p:nvSpPr>
          <p:cNvPr id="16" name="wheel-step-2"/>
          <p:cNvSpPr/>
          <p:nvPr/>
        </p:nvSpPr>
        <p:spPr>
          <a:xfrm>
            <a:off x="3355848" y="2670048"/>
            <a:ext cx="603504" cy="603504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282092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032504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Regulars</a:t>
            </a:r>
            <a:endParaRPr lang="en-US" sz="1100" dirty="0"/>
          </a:p>
        </p:txBody>
      </p:sp>
      <p:sp>
        <p:nvSpPr>
          <p:cNvPr id="19" name="wheel-step-3"/>
          <p:cNvSpPr/>
          <p:nvPr/>
        </p:nvSpPr>
        <p:spPr>
          <a:xfrm>
            <a:off x="2441448" y="3584448"/>
            <a:ext cx="603504" cy="603504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24" y="37353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847088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Word of mouth</a:t>
            </a:r>
            <a:endParaRPr lang="en-US" sz="1100" dirty="0"/>
          </a:p>
        </p:txBody>
      </p:sp>
      <p:sp>
        <p:nvSpPr>
          <p:cNvPr id="22" name="wheel-step-4"/>
          <p:cNvSpPr/>
          <p:nvPr/>
        </p:nvSpPr>
        <p:spPr>
          <a:xfrm>
            <a:off x="1527048" y="2670048"/>
            <a:ext cx="603504" cy="603504"/>
          </a:xfrm>
          <a:prstGeom prst="ellipse">
            <a:avLst/>
          </a:prstGeom>
          <a:solidFill>
            <a:srgbClr val="2B1B12"/>
          </a:solidFill>
          <a:ln w="12700">
            <a:solidFill>
              <a:srgbClr val="2B1B1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924" y="282092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296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1B12"/>
                </a:solidFill>
              </a:rPr>
              <a:t>Less spent on ads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23774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822B"/>
                </a:solidFill>
              </a:rPr>
              <a:t>↻</a:t>
            </a:r>
            <a:endParaRPr lang="en-US" sz="3600" dirty="0"/>
          </a:p>
        </p:txBody>
      </p:sp>
      <p:sp>
        <p:nvSpPr>
          <p:cNvPr id="26" name="Text 20"/>
          <p:cNvSpPr txBox="1"/>
          <p:nvPr/>
        </p:nvSpPr>
        <p:spPr>
          <a:xfrm>
            <a:off x="521208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340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of guests can make up to 50% of orders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212080" y="25877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400" dirty="0"/>
          </a:p>
        </p:txBody>
      </p:sp>
      <p:sp>
        <p:nvSpPr>
          <p:cNvPr id="29" name="Text 23"/>
          <p:cNvSpPr txBox="1"/>
          <p:nvPr/>
        </p:nvSpPr>
        <p:spPr>
          <a:xfrm>
            <a:off x="6446520" y="2587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of diners feel most valued when staff remember them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575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31" name="Text 25"/>
          <p:cNvSpPr txBox="1"/>
          <p:nvPr/>
        </p:nvSpPr>
        <p:spPr>
          <a:xfrm>
            <a:off x="6446520" y="357530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rupees on ads since 2018 at Corridor Seven, Nagpur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from what's proven, one step at a time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5 · WHEN TO GROW?</a:t>
            </a:r>
            <a:endParaRPr lang="en-US" sz="1000" dirty="0"/>
          </a:p>
        </p:txBody>
      </p:sp>
      <p:sp>
        <p:nvSpPr>
          <p:cNvPr id="4" name="progress-1"/>
          <p:cNvSpPr/>
          <p:nvPr/>
        </p:nvSpPr>
        <p:spPr>
          <a:xfrm>
            <a:off x="7818120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5" name="progress-2"/>
          <p:cNvSpPr/>
          <p:nvPr/>
        </p:nvSpPr>
        <p:spPr>
          <a:xfrm>
            <a:off x="8037576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6" name="progress-3"/>
          <p:cNvSpPr/>
          <p:nvPr/>
        </p:nvSpPr>
        <p:spPr>
          <a:xfrm>
            <a:off x="8257032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7" name="progress-4"/>
          <p:cNvSpPr/>
          <p:nvPr/>
        </p:nvSpPr>
        <p:spPr>
          <a:xfrm>
            <a:off x="8476488" y="283464"/>
            <a:ext cx="118872" cy="118872"/>
          </a:xfrm>
          <a:prstGeom prst="ellipse">
            <a:avLst/>
          </a:prstGeom>
          <a:solidFill>
            <a:srgbClr val="E4D9CF"/>
          </a:solidFill>
          <a:ln w="6350">
            <a:solidFill>
              <a:srgbClr val="E4D9CF"/>
            </a:solidFill>
            <a:prstDash val="solid"/>
          </a:ln>
        </p:spPr>
      </p:sp>
      <p:sp>
        <p:nvSpPr>
          <p:cNvPr id="8" name="progress-5"/>
          <p:cNvSpPr/>
          <p:nvPr/>
        </p:nvSpPr>
        <p:spPr>
          <a:xfrm>
            <a:off x="8695944" y="283464"/>
            <a:ext cx="118872" cy="118872"/>
          </a:xfrm>
          <a:prstGeom prst="ellipse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Ansoff matrix: four ways to grow, each riskier the further it moves from what we know.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Entrackr 2025 (Blue Tokai; Zepto Cafe); Restaurant India 2026 (Barista); The Ken (Third Wave); Financial Express 2023 (CCD); Outlook Business 2025 (Starbucks).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algn="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frameworks, eight rules.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481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A6A60"/>
                </a:solidFill>
              </a:rPr>
              <a:t>SAME CITY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481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A6A60"/>
                </a:solidFill>
              </a:rPr>
              <a:t>NEW CITY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 rot="16200000">
            <a:off x="228600" y="2240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A6A60"/>
                </a:solidFill>
              </a:rPr>
              <a:t>SAME MENU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22860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A6A60"/>
                </a:solidFill>
              </a:rPr>
              <a:t>NEW MENU</a:t>
            </a:r>
            <a:endParaRPr lang="en-US" sz="900" dirty="0"/>
          </a:p>
        </p:txBody>
      </p:sp>
      <p:sp>
        <p:nvSpPr>
          <p:cNvPr id="16" name="ansoff-1"/>
          <p:cNvSpPr/>
          <p:nvPr/>
        </p:nvSpPr>
        <p:spPr>
          <a:xfrm>
            <a:off x="960120" y="173736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1847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1945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Safest. e.g. a second cafe 2 km away</a:t>
            </a:r>
            <a:endParaRPr lang="en-US" sz="1100" dirty="0"/>
          </a:p>
        </p:txBody>
      </p:sp>
      <p:sp>
        <p:nvSpPr>
          <p:cNvPr id="19" name="ansoff-2"/>
          <p:cNvSpPr/>
          <p:nvPr/>
        </p:nvSpPr>
        <p:spPr>
          <a:xfrm>
            <a:off x="2880360" y="173736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1847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city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21945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12"/>
                </a:solidFill>
              </a:rPr>
              <a:t>e.g. Barista's 500th cafe, in Patna</a:t>
            </a:r>
            <a:endParaRPr lang="en-US" sz="1100" dirty="0"/>
          </a:p>
        </p:txBody>
      </p:sp>
      <p:sp>
        <p:nvSpPr>
          <p:cNvPr id="22" name="ansoff-3"/>
          <p:cNvSpPr/>
          <p:nvPr/>
        </p:nvSpPr>
        <p:spPr>
          <a:xfrm>
            <a:off x="960120" y="31546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3264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menu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611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12"/>
                </a:solidFill>
              </a:rPr>
              <a:t>e.g. Blue Tokai sells beans as well as cups</a:t>
            </a:r>
            <a:endParaRPr lang="en-US" sz="1100" dirty="0"/>
          </a:p>
        </p:txBody>
      </p:sp>
      <p:sp>
        <p:nvSpPr>
          <p:cNvPr id="25" name="ansoff-4"/>
          <p:cNvSpPr/>
          <p:nvPr/>
        </p:nvSpPr>
        <p:spPr>
          <a:xfrm>
            <a:off x="2880360" y="31546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0" y="3264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3611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Riskiest. e.g. Zepto Cafe paused ~44 outlets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22B"/>
                </a:solidFill>
              </a:rPr>
              <a:t>BEFORE ANY NEW CAFE, ASK</a:t>
            </a:r>
            <a:endParaRPr lang="en-US" sz="10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947672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57784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</a:rPr>
              <a:t>Does the first cafe pay for itself?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577840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</a:rPr>
              <a:t>Third Wave: ~70% of stores lost money in FY24, then a reset.</a:t>
            </a:r>
            <a:endParaRPr lang="en-US" sz="11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816352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57784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</a:rPr>
              <a:t>Can its own cash repay the loan?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5577840" y="31181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</a:rPr>
              <a:t>Cafe Coffee Day: 1,752 cafes to 469 under Rs 7,214 cr debt.</a:t>
            </a:r>
            <a:endParaRPr lang="en-US" sz="11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685032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5778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</a:rPr>
              <a:t>Is the format cheap enough for the market?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5577840" y="3986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</a:rPr>
              <a:t>Tata Starbucks: Rs 135.7 cr loss in FY25; smaller stores next.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rules before the first cup</a:t>
            </a:r>
            <a:endParaRPr lang="en-US" sz="3200" dirty="0"/>
          </a:p>
        </p:txBody>
      </p:sp>
      <p:sp>
        <p:nvSpPr>
          <p:cNvPr id="3" name="rule-1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Keep rent under 20% of honest revenue</a:t>
            </a:r>
            <a:endParaRPr lang="en-US" sz="1400" dirty="0"/>
          </a:p>
        </p:txBody>
      </p:sp>
      <p:sp>
        <p:nvSpPr>
          <p:cNvPr id="6" name="rule-2"/>
          <p:cNvSpPr/>
          <p:nvPr/>
        </p:nvSpPr>
        <p:spPr>
          <a:xfrm>
            <a:off x="4617720" y="1280160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Know which force is strongest where we open</a:t>
            </a:r>
            <a:endParaRPr lang="en-US" sz="1400" dirty="0"/>
          </a:p>
        </p:txBody>
      </p:sp>
      <p:sp>
        <p:nvSpPr>
          <p:cNvPr id="9" name="rule-3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385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Pick one job and build for it</a:t>
            </a:r>
            <a:endParaRPr lang="en-US" sz="1400" dirty="0"/>
          </a:p>
        </p:txBody>
      </p:sp>
      <p:sp>
        <p:nvSpPr>
          <p:cNvPr id="12" name="rule-4"/>
          <p:cNvSpPr/>
          <p:nvPr/>
        </p:nvSpPr>
        <p:spPr>
          <a:xfrm>
            <a:off x="4617720" y="1938528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9385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Drop the photo wall, raise the coffee</a:t>
            </a:r>
            <a:endParaRPr lang="en-US" sz="1400" dirty="0"/>
          </a:p>
        </p:txBody>
      </p:sp>
      <p:sp>
        <p:nvSpPr>
          <p:cNvPr id="15" name="rule-5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5968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Guard the Rs 10 from rent, staff and apps</a:t>
            </a:r>
            <a:endParaRPr lang="en-US" sz="1400" dirty="0"/>
          </a:p>
        </p:txBody>
      </p:sp>
      <p:sp>
        <p:nvSpPr>
          <p:cNvPr id="18" name="rule-6"/>
          <p:cNvSpPr/>
          <p:nvPr/>
        </p:nvSpPr>
        <p:spPr>
          <a:xfrm>
            <a:off x="4617720" y="2596896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5968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Capture every first visit; follow up in 30 days</a:t>
            </a:r>
            <a:endParaRPr lang="en-US" sz="1400" dirty="0"/>
          </a:p>
        </p:txBody>
      </p:sp>
      <p:sp>
        <p:nvSpPr>
          <p:cNvPr id="21" name="rule-7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2552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Spend the first rupee on the welcome</a:t>
            </a:r>
            <a:endParaRPr lang="en-US" sz="1400" dirty="0"/>
          </a:p>
        </p:txBody>
      </p:sp>
      <p:sp>
        <p:nvSpPr>
          <p:cNvPr id="24" name="rule-8"/>
          <p:cNvSpPr/>
          <p:nvPr/>
        </p:nvSpPr>
        <p:spPr>
          <a:xfrm>
            <a:off x="4617720" y="3255264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2552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Grow only when the first cafe pays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9C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frameworks that matter most for a cafe aren't about coffee. They're about rent and the second visit.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68A"/>
                </a:solidFill>
              </a:rPr>
              <a:t>Full booklet with sources and the spend sheet: mathewvadasseril.github.io/msv-blogs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fe Toolkit">
  <a:themeElements>
    <a:clrScheme name="Cafe Toolkit">
      <a:dk1>
        <a:srgbClr val="2B1B12"/>
      </a:dk1>
      <a:lt1>
        <a:srgbClr val="FFFFFF"/>
      </a:lt1>
      <a:dk2>
        <a:srgbClr val="4A3528"/>
      </a:dk2>
      <a:lt2>
        <a:srgbClr val="F6F1EC"/>
      </a:lt2>
      <a:accent1>
        <a:srgbClr val="D9822B"/>
      </a:accent1>
      <a:accent2>
        <a:srgbClr val="C69C6D"/>
      </a:accent2>
      <a:accent3>
        <a:srgbClr val="1F6F78"/>
      </a:accent3>
      <a:accent4>
        <a:srgbClr val="B5452F"/>
      </a:accent4>
      <a:accent5>
        <a:srgbClr val="5E8C61"/>
      </a:accent5>
      <a:accent6>
        <a:srgbClr val="7A6A60"/>
      </a:accent6>
      <a:hlink>
        <a:srgbClr val="1F6F78"/>
      </a:hlink>
      <a:folHlink>
        <a:srgbClr val="7A6A60"/>
      </a:folHlink>
    </a:clrScheme>
    <a:fontScheme name="Cafe Toolk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cafe owner's toolkit</dc:title>
  <dc:subject>PptxGenJS Presentation</dc:subject>
  <dc:creator>Mathew Vadasseril</dc:creator>
  <cp:lastModifiedBy>Mathew Vadasseril</cp:lastModifiedBy>
  <cp:revision>1</cp:revision>
  <dcterms:created xsi:type="dcterms:W3CDTF">2026-10-21T16:04:55Z</dcterms:created>
  <dcterms:modified xsi:type="dcterms:W3CDTF">2026-10-21T16:04:55Z</dcterms:modified>
</cp:coreProperties>
</file>